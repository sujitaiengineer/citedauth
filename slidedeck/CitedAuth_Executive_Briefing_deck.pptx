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49"/>
                </a:solidFill>
                <a:latin typeface="Calibri"/>
              </a:defRPr>
            </a:pPr>
            <a:r>
              <a:rPr sz="1200" b="0" i="0" u="none" strike="noStrike">
                <a:solidFill>
                  <a:srgbClr val="0B3C49"/>
                </a:solidFill>
                <a:latin typeface="Calibri"/>
              </a:rPr>
              <a:t>Nurse-hours per day for 500 requests</a:t>
            </a:r>
          </a:p>
        </c:rich>
      </c:tx>
      <c:layout/>
      <c:overlay val="0"/>
    </c:title>
    <c:autoTitleDeleted val="0"/>
    <c:plotArea>
      <c:layout/>
      <c:barChart>
        <c:barDir val="col"/>
        <c:grouping val="clustered"/>
        <c:varyColors val="0"/>
        <c:ser>
          <c:idx val="0"/>
          <c:order val="0"/>
          <c:tx>
            <c:strRef>
              <c:f>Sheet1!$B$1</c:f>
              <c:strCache>
                <c:ptCount val="1"/>
                <c:pt idx="0">
                  <c:v>Nurse-hours per day</c:v>
                </c:pt>
              </c:strCache>
            </c:strRef>
          </c:tx>
          <c:spPr>
            <a:solidFill>
              <a:srgbClr val="5B6770"/>
            </a:solidFill>
            <a:effectLst/>
          </c:spPr>
          <c:invertIfNegative val="0"/>
          <c:dLbls>
            <c:numFmt formatCode="0.0" sourceLinked="0"/>
            <c:txPr>
              <a:bodyPr/>
              <a:lstStyle/>
              <a:p>
                <a:pPr>
                  <a:defRPr b="0" i="0" strike="noStrike" sz="1400" u="none">
                    <a:solidFill>
                      <a:srgbClr val="0B3C49"/>
                    </a:solidFill>
                    <a:latin typeface="Arial"/>
                  </a:defRPr>
                </a:pPr>
              </a:p>
            </c:txPr>
            <c:showLegendKey val="0"/>
            <c:showVal val="1"/>
            <c:showCatName val="0"/>
            <c:showSerName val="0"/>
            <c:showPercent val="0"/>
            <c:showBubbleSize val="0"/>
            <c:showLeaderLines val="0"/>
          </c:dLbls>
          <c:dPt>
            <c:idx val="0"/>
            <c:invertIfNegative val="0"/>
            <c:bubble3D val="0"/>
            <c:spPr>
              <a:solidFill>
                <a:srgbClr val="5B6770"/>
              </a:solidFill>
              <a:effectLst/>
            </c:spPr>
          </c:dPt>
          <c:dPt>
            <c:idx val="1"/>
            <c:invertIfNegative val="0"/>
            <c:bubble3D val="0"/>
            <c:spPr>
              <a:solidFill>
                <a:srgbClr val="0E7C7B"/>
              </a:solidFill>
              <a:effectLst/>
            </c:spPr>
          </c:dPt>
          <c:cat>
            <c:multiLvlStrRef>
              <c:f>Sheet1!$A$2:$A$3</c:f>
              <c:multiLvlStrCache>
                <c:ptCount val="2"/>
                <c:lvl>
                  <c:pt idx="0">
                    <c:v>Today</c:v>
                  </c:pt>
                  <c:pt idx="1">
                    <c:v>With CitedAuth</c:v>
                  </c:pt>
                </c:lvl>
              </c:multiLvlStrCache>
            </c:multiLvlStrRef>
          </c:cat>
          <c:val>
            <c:numRef>
              <c:f>Sheet1!$B$2:$B$3</c:f>
              <c:numCache>
                <c:formatCode>General</c:formatCode>
                <c:ptCount val="2"/>
                <c:pt idx="0">
                  <c:v>80</c:v>
                </c:pt>
                <c:pt idx="1">
                  <c:v>33.3</c:v>
                </c:pt>
              </c:numCache>
            </c:numRef>
          </c:val>
        </c:ser>
        <c:dLbls>
          <c:numFmt formatCode="0.0" sourceLinked="0"/>
          <c:txPr>
            <a:bodyPr/>
            <a:lstStyle/>
            <a:p>
              <a:pPr>
                <a:defRPr b="0" i="0" strike="noStrike" sz="1400" u="none">
                  <a:solidFill>
                    <a:srgbClr val="0B3C4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B3C49"/>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today. I want to show you how we can take the most time-consuming part of your prior authorization process, the first read of every request, and cut it from minutes to seconds, while your nurses stay fully in control of every decision. I'll walk through what your team looks like today, how CitedAuth works, and then the numbers: time, cost, and the impact on your nurses.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understanding of your team. Ten nurses, each clearing about fifty requests in an eight-hour shift. That's roughly five hundred requests a day and eighty nurse-hours, which works out to under ten minutes per request. Most of that time is reading a clinical note and hunting through policy. It's important work, but it's repetitive, it leaves no room for spikes in volume, and it's exactly the kind of work that wears people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simple. A nurse uploads the day's requests. In seconds per request, CitedAuth reads the clinical note, finds the matching coverage policy, and recommends approve, deny, or needs more information, with the exact policy and criterion it relied on. The nurse reviews that recommendation and signs off, and the provider letters are generated automatically. The nurse goes from researching every case from scratch to verifying a prepared, cited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only matters if you can trust the output. Every recommendation must cite a specific policy and criterion, and if it can't, we treat that as a failure. When a note simply doesn't mention something, the system says 'needs info', never 'deny', because missing documentation isn't a negative finding. Any technical failure defaults to manual review, never to an automatic approval or denial. Urgent cases are flagged for a human immediately. And every AI input and output is visible to your nurses and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time math. Today each request takes about 9.6 minutes. With CitedAuth, the nurse is verifying a prepared, cited recommendation, which we conservatively estimate at around four minutes. Five hundred requests at four minutes is two thousand minutes, or about 33 nurse-hours, instead of 80. That returns roughly 47 hours every single day, close to 11,700 hours a year, or the equivalent of about five and a half full-time reviewers. The four-minute figure is the key assumption, and it's exactly what we'd measure together in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in dollars. At about 110 thousand dollars fully loaded per nurse, an hour of reviewer time costs roughly 53 dollars. Forty-seven hours a day is about 2,470 dollars a day, or around 617 thousand dollars a year in reviewer capacity. To be clear, this isn't about cutting your team. It's capacity you can use to absorb growth without hiring, reduce overtime, and give complex cases the attention they deserve. On the other side of the ledger, the AI itself costs a few cents per request, and because every call is logged with its token count, you'll see the exact cost on every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also a people story here. Your nurses are highly trained clinicians, and today most of their day goes to reading and cross-referencing. CitedAuth takes that repetitive layer off their plate, so they spend their time on judgment calls, complex cases, and urgent ones. Lighter, more meaningful workloads are one of the strongest levers on retention. As an illustration, if replacing a reviewer costs around 50 thousand dollars once you count recruiting, onboarding, and ramp-up, keeping just two people a year is worth about 100 thousand. We'd love to use your actual turnover numbers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also changes the experience for your members and providers. The AI first pass takes seconds. At about four minutes per verified request, the same ten nurses could handle roughly 1,200 requests a day, so a surge no longer becomes a backlog. Urgent cases get flagged the moment they're analyzed. And because every letter cites the exact policy and criterion, providers get clear, consistent reasoning, which means fewer follow-up calls and fewer appeals driven by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bottom line. Nearly 12 thousand nurse-hours returned a year, over 600 thousand dollars in capacity, meaningful retention savings, and more than double the throughput with the team you already have. Combined, that's over 700 thousand dollars in annual value, and at no point does a determination go out without one of your nurses signing off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propose starting with a 90-day pilot so you don't have to take any of these numbers on faith. First, we load your policies and run CitedAuth on historical cases to measure how often it agrees with your nurses. Then we run it in shadow mode alongside your team to measure real verification time. Only then do we go live, with nurses signing off on every case. In parallel, we'd add the enterprise features a production rollout needs: an explicit edit and override step, an automated guardrail check, secure multi-user access with a full audit trail, your complete policy library, and legally reviewed letter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small. Share a sample of de-identified historical requests along with your coverage policies. We'll benchmark CitedAuth against the decisions your nurses already made, and you'll have real accuracy and time numbers from your own data before committing to anything further. Thank you, and I'm happy to take any questions or show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457200" y="822960"/>
            <a:ext cx="731520" cy="731520"/>
          </a:xfrm>
          <a:prstGeom prst="ellipse">
            <a:avLst/>
          </a:prstGeom>
          <a:solidFill>
            <a:srgbClr val="0E7C7B"/>
          </a:solidFill>
          <a:ln w="12700">
            <a:solidFill>
              <a:srgbClr val="0E7C7B"/>
            </a:solidFill>
            <a:prstDash val="solid"/>
          </a:ln>
        </p:spPr>
      </p:sp>
      <p:pic>
        <p:nvPicPr>
          <p:cNvPr id="3" name="Image 0" descr="preencoded.png">    </p:cNvPr>
          <p:cNvPicPr>
            <a:picLocks noChangeAspect="1"/>
          </p:cNvPicPr>
          <p:nvPr/>
        </p:nvPicPr>
        <p:blipFill>
          <a:blip r:embed="rId1"/>
          <a:stretch>
            <a:fillRect/>
          </a:stretch>
        </p:blipFill>
        <p:spPr>
          <a:xfrm>
            <a:off x="640080" y="1005840"/>
            <a:ext cx="365760" cy="365760"/>
          </a:xfrm>
          <a:prstGeom prst="rect">
            <a:avLst/>
          </a:prstGeom>
        </p:spPr>
      </p:pic>
      <p:sp>
        <p:nvSpPr>
          <p:cNvPr id="4" name="Text 1"/>
          <p:cNvSpPr txBox="1"/>
          <p:nvPr/>
        </p:nvSpPr>
        <p:spPr>
          <a:xfrm>
            <a:off x="457200" y="173736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CitedAuth</a:t>
            </a:r>
            <a:endParaRPr lang="en-US" sz="4800" dirty="0"/>
          </a:p>
        </p:txBody>
      </p:sp>
      <p:sp>
        <p:nvSpPr>
          <p:cNvPr id="5" name="Text 2"/>
          <p:cNvSpPr txBox="1"/>
          <p:nvPr/>
        </p:nvSpPr>
        <p:spPr>
          <a:xfrm>
            <a:off x="457200" y="2560320"/>
            <a:ext cx="8229600" cy="457200"/>
          </a:xfrm>
          <a:prstGeom prst="rect">
            <a:avLst/>
          </a:prstGeom>
          <a:noFill/>
          <a:ln/>
        </p:spPr>
        <p:txBody>
          <a:bodyPr wrap="square" lIns="0" tIns="0" rIns="0" bIns="0" rtlCol="0" anchor="ctr"/>
          <a:lstStyle/>
          <a:p>
            <a:pPr indent="0" marL="0">
              <a:buNone/>
            </a:pPr>
            <a:r>
              <a:rPr lang="en-US" sz="2000" dirty="0">
                <a:solidFill>
                  <a:srgbClr val="CFE8E5"/>
                </a:solidFill>
                <a:latin typeface="Calibri" pitchFamily="34" charset="0"/>
                <a:ea typeface="Calibri" pitchFamily="34" charset="-122"/>
                <a:cs typeface="Calibri" pitchFamily="34" charset="-120"/>
              </a:rPr>
              <a:t>Prior authorization decisions in minutes, with every answer cited</a:t>
            </a:r>
            <a:endParaRPr lang="en-US" sz="2000" dirty="0"/>
          </a:p>
        </p:txBody>
      </p:sp>
      <p:sp>
        <p:nvSpPr>
          <p:cNvPr id="6" name="Text 3"/>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200" dirty="0">
                <a:solidFill>
                  <a:srgbClr val="9FC3C0"/>
                </a:solidFill>
                <a:latin typeface="Calibri" pitchFamily="34" charset="0"/>
                <a:ea typeface="Calibri" pitchFamily="34" charset="-122"/>
                <a:cs typeface="Calibri" pitchFamily="34" charset="-120"/>
              </a:rPr>
              <a:t>Executive Briefing  |  Sujit Thakur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Your review team today</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Skilled clinicians spending most of their shift on manual first-pass reading</a:t>
            </a:r>
            <a:endParaRPr lang="en-US" sz="1400" dirty="0"/>
          </a:p>
        </p:txBody>
      </p:sp>
      <p:sp>
        <p:nvSpPr>
          <p:cNvPr id="4" name="Shape 2"/>
          <p:cNvSpPr/>
          <p:nvPr/>
        </p:nvSpPr>
        <p:spPr>
          <a:xfrm>
            <a:off x="457200" y="1371600"/>
            <a:ext cx="2606040" cy="1417320"/>
          </a:xfrm>
          <a:prstGeom prst="roundRect">
            <a:avLst>
              <a:gd name="adj" fmla="val 6452"/>
            </a:avLst>
          </a:prstGeom>
          <a:solidFill>
            <a:srgbClr val="E6F4F1"/>
          </a:solidFill>
          <a:ln w="12700">
            <a:solidFill>
              <a:srgbClr val="E6F4F1"/>
            </a:solidFill>
            <a:prstDash val="solid"/>
          </a:ln>
        </p:spPr>
      </p:sp>
      <p:sp>
        <p:nvSpPr>
          <p:cNvPr id="5" name="Text 3"/>
          <p:cNvSpPr txBox="1"/>
          <p:nvPr/>
        </p:nvSpPr>
        <p:spPr>
          <a:xfrm>
            <a:off x="457200" y="1481328"/>
            <a:ext cx="2606040" cy="73152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500</a:t>
            </a:r>
            <a:endParaRPr lang="en-US" sz="3800" dirty="0"/>
          </a:p>
        </p:txBody>
      </p:sp>
      <p:sp>
        <p:nvSpPr>
          <p:cNvPr id="6" name="Text 4"/>
          <p:cNvSpPr txBox="1"/>
          <p:nvPr/>
        </p:nvSpPr>
        <p:spPr>
          <a:xfrm>
            <a:off x="457200" y="2240280"/>
            <a:ext cx="2606040" cy="365760"/>
          </a:xfrm>
          <a:prstGeom prst="rect">
            <a:avLst/>
          </a:prstGeom>
          <a:noFill/>
          <a:ln/>
        </p:spPr>
        <p:txBody>
          <a:bodyPr wrap="square" lIns="0" tIns="0" rIns="0" bIns="0" rtlCol="0" anchor="ctr"/>
          <a:lstStyle/>
          <a:p>
            <a:pPr algn="ctr" indent="0" marL="0">
              <a:buNone/>
            </a:pPr>
            <a:r>
              <a:rPr lang="en-US" sz="1400" dirty="0">
                <a:solidFill>
                  <a:srgbClr val="0B3C49"/>
                </a:solidFill>
                <a:latin typeface="Calibri" pitchFamily="34" charset="0"/>
                <a:ea typeface="Calibri" pitchFamily="34" charset="-122"/>
                <a:cs typeface="Calibri" pitchFamily="34" charset="-120"/>
              </a:rPr>
              <a:t>requests per day</a:t>
            </a:r>
            <a:endParaRPr lang="en-US" sz="1400" dirty="0"/>
          </a:p>
        </p:txBody>
      </p:sp>
      <p:sp>
        <p:nvSpPr>
          <p:cNvPr id="7" name="Shape 5"/>
          <p:cNvSpPr/>
          <p:nvPr/>
        </p:nvSpPr>
        <p:spPr>
          <a:xfrm>
            <a:off x="3246120" y="1371600"/>
            <a:ext cx="2606040" cy="1417320"/>
          </a:xfrm>
          <a:prstGeom prst="roundRect">
            <a:avLst>
              <a:gd name="adj" fmla="val 6452"/>
            </a:avLst>
          </a:prstGeom>
          <a:solidFill>
            <a:srgbClr val="E6F4F1"/>
          </a:solidFill>
          <a:ln w="12700">
            <a:solidFill>
              <a:srgbClr val="E6F4F1"/>
            </a:solidFill>
            <a:prstDash val="solid"/>
          </a:ln>
        </p:spPr>
      </p:sp>
      <p:sp>
        <p:nvSpPr>
          <p:cNvPr id="8" name="Text 6"/>
          <p:cNvSpPr txBox="1"/>
          <p:nvPr/>
        </p:nvSpPr>
        <p:spPr>
          <a:xfrm>
            <a:off x="3246120" y="1481328"/>
            <a:ext cx="2606040" cy="73152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80</a:t>
            </a:r>
            <a:endParaRPr lang="en-US" sz="3800" dirty="0"/>
          </a:p>
        </p:txBody>
      </p:sp>
      <p:sp>
        <p:nvSpPr>
          <p:cNvPr id="9" name="Text 7"/>
          <p:cNvSpPr txBox="1"/>
          <p:nvPr/>
        </p:nvSpPr>
        <p:spPr>
          <a:xfrm>
            <a:off x="3246120" y="2240280"/>
            <a:ext cx="2606040" cy="365760"/>
          </a:xfrm>
          <a:prstGeom prst="rect">
            <a:avLst/>
          </a:prstGeom>
          <a:noFill/>
          <a:ln/>
        </p:spPr>
        <p:txBody>
          <a:bodyPr wrap="square" lIns="0" tIns="0" rIns="0" bIns="0" rtlCol="0" anchor="ctr"/>
          <a:lstStyle/>
          <a:p>
            <a:pPr algn="ctr" indent="0" marL="0">
              <a:buNone/>
            </a:pPr>
            <a:r>
              <a:rPr lang="en-US" sz="1400" dirty="0">
                <a:solidFill>
                  <a:srgbClr val="0B3C49"/>
                </a:solidFill>
                <a:latin typeface="Calibri" pitchFamily="34" charset="0"/>
                <a:ea typeface="Calibri" pitchFamily="34" charset="-122"/>
                <a:cs typeface="Calibri" pitchFamily="34" charset="-120"/>
              </a:rPr>
              <a:t>nurse-hours per day</a:t>
            </a:r>
            <a:endParaRPr lang="en-US" sz="1400" dirty="0"/>
          </a:p>
        </p:txBody>
      </p:sp>
      <p:sp>
        <p:nvSpPr>
          <p:cNvPr id="10" name="Shape 8"/>
          <p:cNvSpPr/>
          <p:nvPr/>
        </p:nvSpPr>
        <p:spPr>
          <a:xfrm>
            <a:off x="6035040" y="1371600"/>
            <a:ext cx="2606040" cy="1417320"/>
          </a:xfrm>
          <a:prstGeom prst="roundRect">
            <a:avLst>
              <a:gd name="adj" fmla="val 6452"/>
            </a:avLst>
          </a:prstGeom>
          <a:solidFill>
            <a:srgbClr val="E6F4F1"/>
          </a:solidFill>
          <a:ln w="12700">
            <a:solidFill>
              <a:srgbClr val="E6F4F1"/>
            </a:solidFill>
            <a:prstDash val="solid"/>
          </a:ln>
        </p:spPr>
      </p:sp>
      <p:sp>
        <p:nvSpPr>
          <p:cNvPr id="11" name="Text 9"/>
          <p:cNvSpPr txBox="1"/>
          <p:nvPr/>
        </p:nvSpPr>
        <p:spPr>
          <a:xfrm>
            <a:off x="6035040" y="1481328"/>
            <a:ext cx="2606040" cy="731520"/>
          </a:xfrm>
          <a:prstGeom prst="rect">
            <a:avLst/>
          </a:prstGeom>
          <a:noFill/>
          <a:ln/>
        </p:spPr>
        <p:txBody>
          <a:bodyPr wrap="square" lIns="0" tIns="0" rIns="0" bIns="0" rtlCol="0" anchor="ctr"/>
          <a:lstStyle/>
          <a:p>
            <a:pPr algn="ctr" indent="0" marL="0">
              <a:buNone/>
            </a:pPr>
            <a:r>
              <a:rPr lang="en-US" sz="3800" b="1" dirty="0">
                <a:solidFill>
                  <a:srgbClr val="0E7C7B"/>
                </a:solidFill>
                <a:latin typeface="Cambria" pitchFamily="34" charset="0"/>
                <a:ea typeface="Cambria" pitchFamily="34" charset="-122"/>
                <a:cs typeface="Cambria" pitchFamily="34" charset="-120"/>
              </a:rPr>
              <a:t>~9.6 min</a:t>
            </a:r>
            <a:endParaRPr lang="en-US" sz="3800" dirty="0"/>
          </a:p>
        </p:txBody>
      </p:sp>
      <p:sp>
        <p:nvSpPr>
          <p:cNvPr id="12" name="Text 10"/>
          <p:cNvSpPr txBox="1"/>
          <p:nvPr/>
        </p:nvSpPr>
        <p:spPr>
          <a:xfrm>
            <a:off x="6035040" y="2240280"/>
            <a:ext cx="2606040" cy="365760"/>
          </a:xfrm>
          <a:prstGeom prst="rect">
            <a:avLst/>
          </a:prstGeom>
          <a:noFill/>
          <a:ln/>
        </p:spPr>
        <p:txBody>
          <a:bodyPr wrap="square" lIns="0" tIns="0" rIns="0" bIns="0" rtlCol="0" anchor="ctr"/>
          <a:lstStyle/>
          <a:p>
            <a:pPr algn="ctr" indent="0" marL="0">
              <a:buNone/>
            </a:pPr>
            <a:r>
              <a:rPr lang="en-US" sz="1400" dirty="0">
                <a:solidFill>
                  <a:srgbClr val="0B3C49"/>
                </a:solidFill>
                <a:latin typeface="Calibri" pitchFamily="34" charset="0"/>
                <a:ea typeface="Calibri" pitchFamily="34" charset="-122"/>
                <a:cs typeface="Calibri" pitchFamily="34" charset="-120"/>
              </a:rPr>
              <a:t>per request, by hand</a:t>
            </a:r>
            <a:endParaRPr lang="en-US" sz="1400" dirty="0"/>
          </a:p>
        </p:txBody>
      </p:sp>
      <p:sp>
        <p:nvSpPr>
          <p:cNvPr id="13" name="Text 11"/>
          <p:cNvSpPr txBox="1"/>
          <p:nvPr/>
        </p:nvSpPr>
        <p:spPr>
          <a:xfrm>
            <a:off x="457200" y="3017520"/>
            <a:ext cx="8229600" cy="1463040"/>
          </a:xfrm>
          <a:prstGeom prst="rect">
            <a:avLst/>
          </a:prstGeom>
          <a:noFill/>
          <a:ln/>
        </p:spPr>
        <p:txBody>
          <a:bodyPr wrap="square" rtlCol="0" anchor="t"/>
          <a:lstStyle/>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Every request is read end to end and matched to policy by hand</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No slack for volume spikes: a busy day means a backlog tomorrow</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Repetitive, high-pressure work is a leading driver of burnout and turnover</a:t>
            </a:r>
            <a:endParaRPr lang="en-US" sz="1500" dirty="0"/>
          </a:p>
          <a:p>
            <a:pPr marL="342900" indent="-342900">
              <a:spcAft>
                <a:spcPts val="600"/>
              </a:spcAft>
              <a:buSzPct val="100000"/>
              <a:buChar char="•"/>
            </a:pPr>
            <a:r>
              <a:rPr lang="en-US" sz="1500" dirty="0">
                <a:solidFill>
                  <a:srgbClr val="0B3C49"/>
                </a:solidFill>
                <a:latin typeface="Calibri" pitchFamily="34" charset="0"/>
                <a:ea typeface="Calibri" pitchFamily="34" charset="-122"/>
                <a:cs typeface="Calibri" pitchFamily="34" charset="-120"/>
              </a:rPr>
              <a:t>Regulatory turnaround clocks leave little room for delay</a:t>
            </a:r>
            <a:endParaRPr lang="en-US" sz="1500" dirty="0"/>
          </a:p>
        </p:txBody>
      </p:sp>
      <p:sp>
        <p:nvSpPr>
          <p:cNvPr id="14" name="Text 12"/>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Based on 10 nurses x 50 requests each per 8-hour shift (480 min / 50 = 9.6 min per request).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How CitedAuth works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The AI does the first pass. Your nurses make the call.</a:t>
            </a:r>
            <a:endParaRPr lang="en-US" sz="1400" dirty="0"/>
          </a:p>
        </p:txBody>
      </p:sp>
      <p:sp>
        <p:nvSpPr>
          <p:cNvPr id="4" name="Shape 2"/>
          <p:cNvSpPr/>
          <p:nvPr/>
        </p:nvSpPr>
        <p:spPr>
          <a:xfrm>
            <a:off x="457200" y="1417320"/>
            <a:ext cx="1874520" cy="2926080"/>
          </a:xfrm>
          <a:prstGeom prst="roundRect">
            <a:avLst>
              <a:gd name="adj" fmla="val 4878"/>
            </a:avLst>
          </a:prstGeom>
          <a:solidFill>
            <a:srgbClr val="FFFFFF"/>
          </a:solidFill>
          <a:ln w="12700">
            <a:solidFill>
              <a:srgbClr val="D5E4E2"/>
            </a:solidFill>
            <a:prstDash val="solid"/>
          </a:ln>
        </p:spPr>
      </p:sp>
      <p:sp>
        <p:nvSpPr>
          <p:cNvPr id="5" name="Shape 3"/>
          <p:cNvSpPr/>
          <p:nvPr/>
        </p:nvSpPr>
        <p:spPr>
          <a:xfrm>
            <a:off x="1024128" y="1645920"/>
            <a:ext cx="731520" cy="73152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1207008" y="1828800"/>
            <a:ext cx="365760" cy="365760"/>
          </a:xfrm>
          <a:prstGeom prst="rect">
            <a:avLst/>
          </a:prstGeom>
        </p:spPr>
      </p:pic>
      <p:sp>
        <p:nvSpPr>
          <p:cNvPr id="7" name="Text 4"/>
          <p:cNvSpPr txBox="1"/>
          <p:nvPr/>
        </p:nvSpPr>
        <p:spPr>
          <a:xfrm>
            <a:off x="594360" y="2514600"/>
            <a:ext cx="1600200" cy="365760"/>
          </a:xfrm>
          <a:prstGeom prst="rect">
            <a:avLst/>
          </a:prstGeom>
          <a:noFill/>
          <a:ln/>
        </p:spPr>
        <p:txBody>
          <a:bodyPr wrap="square" lIns="0" tIns="0" rIns="0" bIns="0" rtlCol="0" anchor="ctr"/>
          <a:lstStyle/>
          <a:p>
            <a:pPr algn="ctr" indent="0" marL="0">
              <a:buNone/>
            </a:pPr>
            <a:r>
              <a:rPr lang="en-US" sz="1600" b="1" dirty="0">
                <a:solidFill>
                  <a:srgbClr val="0B3C49"/>
                </a:solidFill>
                <a:latin typeface="Cambria" pitchFamily="34" charset="0"/>
                <a:ea typeface="Cambria" pitchFamily="34" charset="-122"/>
                <a:cs typeface="Cambria" pitchFamily="34" charset="-120"/>
              </a:rPr>
              <a:t>1. Upload</a:t>
            </a:r>
            <a:endParaRPr lang="en-US" sz="1600" dirty="0"/>
          </a:p>
        </p:txBody>
      </p:sp>
      <p:sp>
        <p:nvSpPr>
          <p:cNvPr id="8" name="Text 5"/>
          <p:cNvSpPr txBox="1"/>
          <p:nvPr/>
        </p:nvSpPr>
        <p:spPr>
          <a:xfrm>
            <a:off x="594360" y="2926080"/>
            <a:ext cx="1600200" cy="128016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Nurse uploads the day's requests as a spreadsheet</a:t>
            </a:r>
            <a:endParaRPr lang="en-US" sz="1250" dirty="0"/>
          </a:p>
        </p:txBody>
      </p:sp>
      <p:sp>
        <p:nvSpPr>
          <p:cNvPr id="9" name="Text 6"/>
          <p:cNvSpPr txBox="1"/>
          <p:nvPr/>
        </p:nvSpPr>
        <p:spPr>
          <a:xfrm>
            <a:off x="2304288" y="2651760"/>
            <a:ext cx="274320" cy="457200"/>
          </a:xfrm>
          <a:prstGeom prst="rect">
            <a:avLst/>
          </a:prstGeom>
          <a:noFill/>
          <a:ln/>
        </p:spPr>
        <p:txBody>
          <a:bodyPr wrap="square" lIns="0" tIns="0" rIns="0" bIns="0" rtlCol="0" anchor="ctr"/>
          <a:lstStyle/>
          <a:p>
            <a:pPr algn="ctr" indent="0" marL="0">
              <a:buNone/>
            </a:pPr>
            <a:r>
              <a:rPr lang="en-US" sz="2800" b="1" dirty="0">
                <a:solidFill>
                  <a:srgbClr val="0E7C7B"/>
                </a:solidFill>
                <a:latin typeface="Calibri" pitchFamily="34" charset="0"/>
                <a:ea typeface="Calibri" pitchFamily="34" charset="-122"/>
                <a:cs typeface="Calibri" pitchFamily="34" charset="-120"/>
              </a:rPr>
              <a:t>›</a:t>
            </a:r>
            <a:endParaRPr lang="en-US" sz="2800" dirty="0"/>
          </a:p>
        </p:txBody>
      </p:sp>
      <p:sp>
        <p:nvSpPr>
          <p:cNvPr id="10" name="Shape 7"/>
          <p:cNvSpPr/>
          <p:nvPr/>
        </p:nvSpPr>
        <p:spPr>
          <a:xfrm>
            <a:off x="2560320" y="1417320"/>
            <a:ext cx="1874520" cy="2926080"/>
          </a:xfrm>
          <a:prstGeom prst="roundRect">
            <a:avLst>
              <a:gd name="adj" fmla="val 4878"/>
            </a:avLst>
          </a:prstGeom>
          <a:solidFill>
            <a:srgbClr val="FFFFFF"/>
          </a:solidFill>
          <a:ln w="12700">
            <a:solidFill>
              <a:srgbClr val="D5E4E2"/>
            </a:solidFill>
            <a:prstDash val="solid"/>
          </a:ln>
        </p:spPr>
      </p:sp>
      <p:sp>
        <p:nvSpPr>
          <p:cNvPr id="11" name="Shape 8"/>
          <p:cNvSpPr/>
          <p:nvPr/>
        </p:nvSpPr>
        <p:spPr>
          <a:xfrm>
            <a:off x="3127248" y="1645920"/>
            <a:ext cx="731520" cy="731520"/>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3310128" y="1828800"/>
            <a:ext cx="365760" cy="365760"/>
          </a:xfrm>
          <a:prstGeom prst="rect">
            <a:avLst/>
          </a:prstGeom>
        </p:spPr>
      </p:pic>
      <p:sp>
        <p:nvSpPr>
          <p:cNvPr id="13" name="Text 9"/>
          <p:cNvSpPr txBox="1"/>
          <p:nvPr/>
        </p:nvSpPr>
        <p:spPr>
          <a:xfrm>
            <a:off x="2697480" y="2514600"/>
            <a:ext cx="1600200" cy="365760"/>
          </a:xfrm>
          <a:prstGeom prst="rect">
            <a:avLst/>
          </a:prstGeom>
          <a:noFill/>
          <a:ln/>
        </p:spPr>
        <p:txBody>
          <a:bodyPr wrap="square" lIns="0" tIns="0" rIns="0" bIns="0" rtlCol="0" anchor="ctr"/>
          <a:lstStyle/>
          <a:p>
            <a:pPr algn="ctr" indent="0" marL="0">
              <a:buNone/>
            </a:pPr>
            <a:r>
              <a:rPr lang="en-US" sz="1600" b="1" dirty="0">
                <a:solidFill>
                  <a:srgbClr val="0B3C49"/>
                </a:solidFill>
                <a:latin typeface="Cambria" pitchFamily="34" charset="0"/>
                <a:ea typeface="Cambria" pitchFamily="34" charset="-122"/>
                <a:cs typeface="Cambria" pitchFamily="34" charset="-120"/>
              </a:rPr>
              <a:t>2. AI first pass</a:t>
            </a:r>
            <a:endParaRPr lang="en-US" sz="1600" dirty="0"/>
          </a:p>
        </p:txBody>
      </p:sp>
      <p:sp>
        <p:nvSpPr>
          <p:cNvPr id="14" name="Text 10"/>
          <p:cNvSpPr txBox="1"/>
          <p:nvPr/>
        </p:nvSpPr>
        <p:spPr>
          <a:xfrm>
            <a:off x="2697480" y="2926080"/>
            <a:ext cx="1600200" cy="128016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Reads each note, matches it to your policy, recommends approve, deny, or needs info</a:t>
            </a:r>
            <a:endParaRPr lang="en-US" sz="1250" dirty="0"/>
          </a:p>
        </p:txBody>
      </p:sp>
      <p:sp>
        <p:nvSpPr>
          <p:cNvPr id="15" name="Text 11"/>
          <p:cNvSpPr txBox="1"/>
          <p:nvPr/>
        </p:nvSpPr>
        <p:spPr>
          <a:xfrm>
            <a:off x="4407408" y="2651760"/>
            <a:ext cx="274320" cy="457200"/>
          </a:xfrm>
          <a:prstGeom prst="rect">
            <a:avLst/>
          </a:prstGeom>
          <a:noFill/>
          <a:ln/>
        </p:spPr>
        <p:txBody>
          <a:bodyPr wrap="square" lIns="0" tIns="0" rIns="0" bIns="0" rtlCol="0" anchor="ctr"/>
          <a:lstStyle/>
          <a:p>
            <a:pPr algn="ctr" indent="0" marL="0">
              <a:buNone/>
            </a:pPr>
            <a:r>
              <a:rPr lang="en-US" sz="2800" b="1" dirty="0">
                <a:solidFill>
                  <a:srgbClr val="0E7C7B"/>
                </a:solidFill>
                <a:latin typeface="Calibri" pitchFamily="34" charset="0"/>
                <a:ea typeface="Calibri" pitchFamily="34" charset="-122"/>
                <a:cs typeface="Calibri" pitchFamily="34" charset="-120"/>
              </a:rPr>
              <a:t>›</a:t>
            </a:r>
            <a:endParaRPr lang="en-US" sz="2800" dirty="0"/>
          </a:p>
        </p:txBody>
      </p:sp>
      <p:sp>
        <p:nvSpPr>
          <p:cNvPr id="16" name="Shape 12"/>
          <p:cNvSpPr/>
          <p:nvPr/>
        </p:nvSpPr>
        <p:spPr>
          <a:xfrm>
            <a:off x="4663440" y="1417320"/>
            <a:ext cx="1874520" cy="2926080"/>
          </a:xfrm>
          <a:prstGeom prst="roundRect">
            <a:avLst>
              <a:gd name="adj" fmla="val 4878"/>
            </a:avLst>
          </a:prstGeom>
          <a:solidFill>
            <a:srgbClr val="FFFFFF"/>
          </a:solidFill>
          <a:ln w="12700">
            <a:solidFill>
              <a:srgbClr val="D5E4E2"/>
            </a:solidFill>
            <a:prstDash val="solid"/>
          </a:ln>
        </p:spPr>
      </p:sp>
      <p:sp>
        <p:nvSpPr>
          <p:cNvPr id="17" name="Shape 13"/>
          <p:cNvSpPr/>
          <p:nvPr/>
        </p:nvSpPr>
        <p:spPr>
          <a:xfrm>
            <a:off x="5230368" y="1645920"/>
            <a:ext cx="731520" cy="731520"/>
          </a:xfrm>
          <a:prstGeom prst="ellipse">
            <a:avLst/>
          </a:prstGeom>
          <a:solidFill>
            <a:srgbClr val="E8A33D"/>
          </a:solidFill>
          <a:ln w="12700">
            <a:solidFill>
              <a:srgbClr val="E8A33D"/>
            </a:solidFill>
            <a:prstDash val="solid"/>
          </a:ln>
        </p:spPr>
      </p:sp>
      <p:pic>
        <p:nvPicPr>
          <p:cNvPr id="18" name="Image 2" descr="preencoded.png">    </p:cNvPr>
          <p:cNvPicPr>
            <a:picLocks noChangeAspect="1"/>
          </p:cNvPicPr>
          <p:nvPr/>
        </p:nvPicPr>
        <p:blipFill>
          <a:blip r:embed="rId3"/>
          <a:stretch>
            <a:fillRect/>
          </a:stretch>
        </p:blipFill>
        <p:spPr>
          <a:xfrm>
            <a:off x="5413248" y="1828800"/>
            <a:ext cx="365760" cy="365760"/>
          </a:xfrm>
          <a:prstGeom prst="rect">
            <a:avLst/>
          </a:prstGeom>
        </p:spPr>
      </p:pic>
      <p:sp>
        <p:nvSpPr>
          <p:cNvPr id="19" name="Text 14"/>
          <p:cNvSpPr txBox="1"/>
          <p:nvPr/>
        </p:nvSpPr>
        <p:spPr>
          <a:xfrm>
            <a:off x="4800600" y="2514600"/>
            <a:ext cx="1600200" cy="365760"/>
          </a:xfrm>
          <a:prstGeom prst="rect">
            <a:avLst/>
          </a:prstGeom>
          <a:noFill/>
          <a:ln/>
        </p:spPr>
        <p:txBody>
          <a:bodyPr wrap="square" lIns="0" tIns="0" rIns="0" bIns="0" rtlCol="0" anchor="ctr"/>
          <a:lstStyle/>
          <a:p>
            <a:pPr algn="ctr" indent="0" marL="0">
              <a:buNone/>
            </a:pPr>
            <a:r>
              <a:rPr lang="en-US" sz="1600" b="1" dirty="0">
                <a:solidFill>
                  <a:srgbClr val="0B3C49"/>
                </a:solidFill>
                <a:latin typeface="Cambria" pitchFamily="34" charset="0"/>
                <a:ea typeface="Cambria" pitchFamily="34" charset="-122"/>
                <a:cs typeface="Cambria" pitchFamily="34" charset="-120"/>
              </a:rPr>
              <a:t>3. Nurse verifies</a:t>
            </a:r>
            <a:endParaRPr lang="en-US" sz="1600" dirty="0"/>
          </a:p>
        </p:txBody>
      </p:sp>
      <p:sp>
        <p:nvSpPr>
          <p:cNvPr id="20" name="Text 15"/>
          <p:cNvSpPr txBox="1"/>
          <p:nvPr/>
        </p:nvSpPr>
        <p:spPr>
          <a:xfrm>
            <a:off x="4800600" y="2926080"/>
            <a:ext cx="1600200" cy="128016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Reviews the cited recommendation and signs off</a:t>
            </a:r>
            <a:endParaRPr lang="en-US" sz="1250" dirty="0"/>
          </a:p>
        </p:txBody>
      </p:sp>
      <p:sp>
        <p:nvSpPr>
          <p:cNvPr id="21" name="Text 16"/>
          <p:cNvSpPr txBox="1"/>
          <p:nvPr/>
        </p:nvSpPr>
        <p:spPr>
          <a:xfrm>
            <a:off x="6510528" y="2651760"/>
            <a:ext cx="274320" cy="457200"/>
          </a:xfrm>
          <a:prstGeom prst="rect">
            <a:avLst/>
          </a:prstGeom>
          <a:noFill/>
          <a:ln/>
        </p:spPr>
        <p:txBody>
          <a:bodyPr wrap="square" lIns="0" tIns="0" rIns="0" bIns="0" rtlCol="0" anchor="ctr"/>
          <a:lstStyle/>
          <a:p>
            <a:pPr algn="ctr" indent="0" marL="0">
              <a:buNone/>
            </a:pPr>
            <a:r>
              <a:rPr lang="en-US" sz="2800" b="1" dirty="0">
                <a:solidFill>
                  <a:srgbClr val="0E7C7B"/>
                </a:solidFill>
                <a:latin typeface="Calibri" pitchFamily="34" charset="0"/>
                <a:ea typeface="Calibri" pitchFamily="34" charset="-122"/>
                <a:cs typeface="Calibri" pitchFamily="34" charset="-120"/>
              </a:rPr>
              <a:t>›</a:t>
            </a:r>
            <a:endParaRPr lang="en-US" sz="2800" dirty="0"/>
          </a:p>
        </p:txBody>
      </p:sp>
      <p:sp>
        <p:nvSpPr>
          <p:cNvPr id="22" name="Shape 17"/>
          <p:cNvSpPr/>
          <p:nvPr/>
        </p:nvSpPr>
        <p:spPr>
          <a:xfrm>
            <a:off x="6766560" y="1417320"/>
            <a:ext cx="1874520" cy="2926080"/>
          </a:xfrm>
          <a:prstGeom prst="roundRect">
            <a:avLst>
              <a:gd name="adj" fmla="val 4878"/>
            </a:avLst>
          </a:prstGeom>
          <a:solidFill>
            <a:srgbClr val="FFFFFF"/>
          </a:solidFill>
          <a:ln w="12700">
            <a:solidFill>
              <a:srgbClr val="D5E4E2"/>
            </a:solidFill>
            <a:prstDash val="solid"/>
          </a:ln>
        </p:spPr>
      </p:sp>
      <p:sp>
        <p:nvSpPr>
          <p:cNvPr id="23" name="Shape 18"/>
          <p:cNvSpPr/>
          <p:nvPr/>
        </p:nvSpPr>
        <p:spPr>
          <a:xfrm>
            <a:off x="7333488" y="1645920"/>
            <a:ext cx="731520" cy="731520"/>
          </a:xfrm>
          <a:prstGeom prst="ellipse">
            <a:avLst/>
          </a:prstGeom>
          <a:solidFill>
            <a:srgbClr val="0E7C7B"/>
          </a:solidFill>
          <a:ln w="12700">
            <a:solidFill>
              <a:srgbClr val="0E7C7B"/>
            </a:solidFill>
            <a:prstDash val="solid"/>
          </a:ln>
        </p:spPr>
      </p:sp>
      <p:pic>
        <p:nvPicPr>
          <p:cNvPr id="24" name="Image 3" descr="preencoded.png">    </p:cNvPr>
          <p:cNvPicPr>
            <a:picLocks noChangeAspect="1"/>
          </p:cNvPicPr>
          <p:nvPr/>
        </p:nvPicPr>
        <p:blipFill>
          <a:blip r:embed="rId4"/>
          <a:stretch>
            <a:fillRect/>
          </a:stretch>
        </p:blipFill>
        <p:spPr>
          <a:xfrm>
            <a:off x="7516368" y="1828800"/>
            <a:ext cx="365760" cy="365760"/>
          </a:xfrm>
          <a:prstGeom prst="rect">
            <a:avLst/>
          </a:prstGeom>
        </p:spPr>
      </p:pic>
      <p:sp>
        <p:nvSpPr>
          <p:cNvPr id="25" name="Text 19"/>
          <p:cNvSpPr txBox="1"/>
          <p:nvPr/>
        </p:nvSpPr>
        <p:spPr>
          <a:xfrm>
            <a:off x="6903720" y="2514600"/>
            <a:ext cx="1600200" cy="365760"/>
          </a:xfrm>
          <a:prstGeom prst="rect">
            <a:avLst/>
          </a:prstGeom>
          <a:noFill/>
          <a:ln/>
        </p:spPr>
        <p:txBody>
          <a:bodyPr wrap="square" lIns="0" tIns="0" rIns="0" bIns="0" rtlCol="0" anchor="ctr"/>
          <a:lstStyle/>
          <a:p>
            <a:pPr algn="ctr" indent="0" marL="0">
              <a:buNone/>
            </a:pPr>
            <a:r>
              <a:rPr lang="en-US" sz="1600" b="1" dirty="0">
                <a:solidFill>
                  <a:srgbClr val="0B3C49"/>
                </a:solidFill>
                <a:latin typeface="Cambria" pitchFamily="34" charset="0"/>
                <a:ea typeface="Cambria" pitchFamily="34" charset="-122"/>
                <a:cs typeface="Cambria" pitchFamily="34" charset="-120"/>
              </a:rPr>
              <a:t>4. Letters out</a:t>
            </a:r>
            <a:endParaRPr lang="en-US" sz="1600" dirty="0"/>
          </a:p>
        </p:txBody>
      </p:sp>
      <p:sp>
        <p:nvSpPr>
          <p:cNvPr id="26" name="Text 20"/>
          <p:cNvSpPr txBox="1"/>
          <p:nvPr/>
        </p:nvSpPr>
        <p:spPr>
          <a:xfrm>
            <a:off x="6903720" y="2926080"/>
            <a:ext cx="1600200" cy="1280160"/>
          </a:xfrm>
          <a:prstGeom prst="rect">
            <a:avLst/>
          </a:prstGeom>
          <a:noFill/>
          <a:ln/>
        </p:spPr>
        <p:txBody>
          <a:bodyPr wrap="square" lIns="0" tIns="0" rIns="0" bIns="0" rtlCol="0" anchor="t"/>
          <a:lstStyle/>
          <a:p>
            <a:pPr algn="ctr" indent="0" marL="0">
              <a:buNone/>
            </a:pPr>
            <a:r>
              <a:rPr lang="en-US" sz="1250" dirty="0">
                <a:solidFill>
                  <a:srgbClr val="5B6770"/>
                </a:solidFill>
                <a:latin typeface="Calibri" pitchFamily="34" charset="0"/>
                <a:ea typeface="Calibri" pitchFamily="34" charset="-122"/>
                <a:cs typeface="Calibri" pitchFamily="34" charset="-120"/>
              </a:rPr>
              <a:t>Provider letters generated as one PDF, plus an Excel record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Built for trust, not just speed</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Safeguards designed around how clinical reviewers actually work</a:t>
            </a:r>
            <a:endParaRPr lang="en-US" sz="1400" dirty="0"/>
          </a:p>
        </p:txBody>
      </p:sp>
      <p:sp>
        <p:nvSpPr>
          <p:cNvPr id="4" name="Shape 2"/>
          <p:cNvSpPr/>
          <p:nvPr/>
        </p:nvSpPr>
        <p:spPr>
          <a:xfrm>
            <a:off x="457200" y="1371600"/>
            <a:ext cx="4023360" cy="1463040"/>
          </a:xfrm>
          <a:prstGeom prst="roundRect">
            <a:avLst>
              <a:gd name="adj" fmla="val 6250"/>
            </a:avLst>
          </a:prstGeom>
          <a:solidFill>
            <a:srgbClr val="E6F4F1"/>
          </a:solidFill>
          <a:ln w="12700">
            <a:solidFill>
              <a:srgbClr val="E6F4F1"/>
            </a:solidFill>
            <a:prstDash val="solid"/>
          </a:ln>
        </p:spPr>
      </p:sp>
      <p:sp>
        <p:nvSpPr>
          <p:cNvPr id="5" name="Shape 3"/>
          <p:cNvSpPr/>
          <p:nvPr/>
        </p:nvSpPr>
        <p:spPr>
          <a:xfrm>
            <a:off x="685800" y="1645920"/>
            <a:ext cx="640080" cy="64008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845820" y="1805940"/>
            <a:ext cx="320040" cy="320040"/>
          </a:xfrm>
          <a:prstGeom prst="rect">
            <a:avLst/>
          </a:prstGeom>
        </p:spPr>
      </p:pic>
      <p:sp>
        <p:nvSpPr>
          <p:cNvPr id="7" name="Text 4"/>
          <p:cNvSpPr txBox="1"/>
          <p:nvPr/>
        </p:nvSpPr>
        <p:spPr>
          <a:xfrm>
            <a:off x="1508760" y="1554480"/>
            <a:ext cx="2834640" cy="36576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Every decision is cited</a:t>
            </a:r>
            <a:endParaRPr lang="en-US" sz="1500" dirty="0"/>
          </a:p>
        </p:txBody>
      </p:sp>
      <p:sp>
        <p:nvSpPr>
          <p:cNvPr id="8" name="Text 5"/>
          <p:cNvSpPr txBox="1"/>
          <p:nvPr/>
        </p:nvSpPr>
        <p:spPr>
          <a:xfrm>
            <a:off x="1508760" y="1938528"/>
            <a:ext cx="2834640" cy="7772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Each recommendation points to a specific policy and criterion. No citation, no answer.</a:t>
            </a:r>
            <a:endParaRPr lang="en-US" sz="1200" dirty="0"/>
          </a:p>
        </p:txBody>
      </p:sp>
      <p:sp>
        <p:nvSpPr>
          <p:cNvPr id="9" name="Shape 6"/>
          <p:cNvSpPr/>
          <p:nvPr/>
        </p:nvSpPr>
        <p:spPr>
          <a:xfrm>
            <a:off x="4663440" y="1371600"/>
            <a:ext cx="4023360" cy="1463040"/>
          </a:xfrm>
          <a:prstGeom prst="roundRect">
            <a:avLst>
              <a:gd name="adj" fmla="val 6250"/>
            </a:avLst>
          </a:prstGeom>
          <a:solidFill>
            <a:srgbClr val="E6F4F1"/>
          </a:solidFill>
          <a:ln w="12700">
            <a:solidFill>
              <a:srgbClr val="E6F4F1"/>
            </a:solidFill>
            <a:prstDash val="solid"/>
          </a:ln>
        </p:spPr>
      </p:sp>
      <p:sp>
        <p:nvSpPr>
          <p:cNvPr id="10" name="Shape 7"/>
          <p:cNvSpPr/>
          <p:nvPr/>
        </p:nvSpPr>
        <p:spPr>
          <a:xfrm>
            <a:off x="4892040" y="1645920"/>
            <a:ext cx="640080" cy="64008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52060" y="1805940"/>
            <a:ext cx="320040" cy="320040"/>
          </a:xfrm>
          <a:prstGeom prst="rect">
            <a:avLst/>
          </a:prstGeom>
        </p:spPr>
      </p:pic>
      <p:sp>
        <p:nvSpPr>
          <p:cNvPr id="12" name="Text 8"/>
          <p:cNvSpPr txBox="1"/>
          <p:nvPr/>
        </p:nvSpPr>
        <p:spPr>
          <a:xfrm>
            <a:off x="5715000" y="1554480"/>
            <a:ext cx="2834640" cy="36576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Missing info is never a denial</a:t>
            </a:r>
            <a:endParaRPr lang="en-US" sz="1500" dirty="0"/>
          </a:p>
        </p:txBody>
      </p:sp>
      <p:sp>
        <p:nvSpPr>
          <p:cNvPr id="13" name="Text 9"/>
          <p:cNvSpPr txBox="1"/>
          <p:nvPr/>
        </p:nvSpPr>
        <p:spPr>
          <a:xfrm>
            <a:off x="5715000" y="1938528"/>
            <a:ext cx="2834640" cy="7772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If the note is silent, the result is "needs info." Any system error routes to manual review.</a:t>
            </a:r>
            <a:endParaRPr lang="en-US" sz="1200" dirty="0"/>
          </a:p>
        </p:txBody>
      </p:sp>
      <p:sp>
        <p:nvSpPr>
          <p:cNvPr id="14" name="Shape 10"/>
          <p:cNvSpPr/>
          <p:nvPr/>
        </p:nvSpPr>
        <p:spPr>
          <a:xfrm>
            <a:off x="457200" y="3017520"/>
            <a:ext cx="4023360" cy="1463040"/>
          </a:xfrm>
          <a:prstGeom prst="roundRect">
            <a:avLst>
              <a:gd name="adj" fmla="val 6250"/>
            </a:avLst>
          </a:prstGeom>
          <a:solidFill>
            <a:srgbClr val="E6F4F1"/>
          </a:solidFill>
          <a:ln w="12700">
            <a:solidFill>
              <a:srgbClr val="E6F4F1"/>
            </a:solidFill>
            <a:prstDash val="solid"/>
          </a:ln>
        </p:spPr>
      </p:sp>
      <p:sp>
        <p:nvSpPr>
          <p:cNvPr id="15" name="Shape 11"/>
          <p:cNvSpPr/>
          <p:nvPr/>
        </p:nvSpPr>
        <p:spPr>
          <a:xfrm>
            <a:off x="685800" y="3291840"/>
            <a:ext cx="640080" cy="64008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845820" y="3451860"/>
            <a:ext cx="320040" cy="320040"/>
          </a:xfrm>
          <a:prstGeom prst="rect">
            <a:avLst/>
          </a:prstGeom>
        </p:spPr>
      </p:pic>
      <p:sp>
        <p:nvSpPr>
          <p:cNvPr id="17" name="Text 12"/>
          <p:cNvSpPr txBox="1"/>
          <p:nvPr/>
        </p:nvSpPr>
        <p:spPr>
          <a:xfrm>
            <a:off x="1508760" y="3200400"/>
            <a:ext cx="2834640" cy="36576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Urgent cases surface first</a:t>
            </a:r>
            <a:endParaRPr lang="en-US" sz="1500" dirty="0"/>
          </a:p>
        </p:txBody>
      </p:sp>
      <p:sp>
        <p:nvSpPr>
          <p:cNvPr id="18" name="Text 13"/>
          <p:cNvSpPr txBox="1"/>
          <p:nvPr/>
        </p:nvSpPr>
        <p:spPr>
          <a:xfrm>
            <a:off x="1508760" y="3584448"/>
            <a:ext cx="2834640" cy="7772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Notes suggesting an emergent condition are flagged for a human, whatever the outcome.</a:t>
            </a:r>
            <a:endParaRPr lang="en-US" sz="1200" dirty="0"/>
          </a:p>
        </p:txBody>
      </p:sp>
      <p:sp>
        <p:nvSpPr>
          <p:cNvPr id="19" name="Shape 14"/>
          <p:cNvSpPr/>
          <p:nvPr/>
        </p:nvSpPr>
        <p:spPr>
          <a:xfrm>
            <a:off x="4663440" y="3017520"/>
            <a:ext cx="4023360" cy="1463040"/>
          </a:xfrm>
          <a:prstGeom prst="roundRect">
            <a:avLst>
              <a:gd name="adj" fmla="val 6250"/>
            </a:avLst>
          </a:prstGeom>
          <a:solidFill>
            <a:srgbClr val="E6F4F1"/>
          </a:solidFill>
          <a:ln w="12700">
            <a:solidFill>
              <a:srgbClr val="E6F4F1"/>
            </a:solidFill>
            <a:prstDash val="solid"/>
          </a:ln>
        </p:spPr>
      </p:sp>
      <p:sp>
        <p:nvSpPr>
          <p:cNvPr id="20" name="Shape 15"/>
          <p:cNvSpPr/>
          <p:nvPr/>
        </p:nvSpPr>
        <p:spPr>
          <a:xfrm>
            <a:off x="4892040" y="3291840"/>
            <a:ext cx="640080" cy="640080"/>
          </a:xfrm>
          <a:prstGeom prst="ellipse">
            <a:avLst/>
          </a:prstGeom>
          <a:solidFill>
            <a:srgbClr val="0E7C7B"/>
          </a:solidFill>
          <a:ln w="12700">
            <a:solidFill>
              <a:srgbClr val="0E7C7B"/>
            </a:solidFill>
            <a:prstDash val="solid"/>
          </a:ln>
        </p:spPr>
      </p:sp>
      <p:pic>
        <p:nvPicPr>
          <p:cNvPr id="21" name="Image 3" descr="preencoded.png">    </p:cNvPr>
          <p:cNvPicPr>
            <a:picLocks noChangeAspect="1"/>
          </p:cNvPicPr>
          <p:nvPr/>
        </p:nvPicPr>
        <p:blipFill>
          <a:blip r:embed="rId4"/>
          <a:stretch>
            <a:fillRect/>
          </a:stretch>
        </p:blipFill>
        <p:spPr>
          <a:xfrm>
            <a:off x="5052060" y="3451860"/>
            <a:ext cx="320040" cy="320040"/>
          </a:xfrm>
          <a:prstGeom prst="rect">
            <a:avLst/>
          </a:prstGeom>
        </p:spPr>
      </p:pic>
      <p:sp>
        <p:nvSpPr>
          <p:cNvPr id="22" name="Text 16"/>
          <p:cNvSpPr txBox="1"/>
          <p:nvPr/>
        </p:nvSpPr>
        <p:spPr>
          <a:xfrm>
            <a:off x="5715000" y="3200400"/>
            <a:ext cx="2834640" cy="36576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Full transparency</a:t>
            </a:r>
            <a:endParaRPr lang="en-US" sz="1500" dirty="0"/>
          </a:p>
        </p:txBody>
      </p:sp>
      <p:sp>
        <p:nvSpPr>
          <p:cNvPr id="23" name="Text 17"/>
          <p:cNvSpPr txBox="1"/>
          <p:nvPr/>
        </p:nvSpPr>
        <p:spPr>
          <a:xfrm>
            <a:off x="5715000" y="3584448"/>
            <a:ext cx="2834640" cy="77724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Nurses see exactly what the AI read and answered. Every call is logged with cost and timing.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Time: nearly 47 nurse-hours returned every day</a:t>
            </a:r>
            <a:endParaRPr lang="en-US" sz="3000" dirty="0"/>
          </a:p>
        </p:txBody>
      </p:sp>
      <p:graphicFrame>
        <p:nvGraphicFramePr>
          <p:cNvPr id="3" name="Chart 0" descr=""/>
          <p:cNvGraphicFramePr/>
          <p:nvPr/>
        </p:nvGraphicFramePr>
        <p:xfrm>
          <a:off x="365760" y="1005840"/>
          <a:ext cx="402336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63440" y="1188720"/>
          <a:ext cx="4023360" cy="914400"/>
        </p:xfrm>
        <a:graphic>
          <a:graphicData uri="http://schemas.openxmlformats.org/drawingml/2006/table">
            <a:tbl>
              <a:tblPr/>
              <a:tblGrid>
                <a:gridCol w="1737360"/>
                <a:gridCol w="1005840"/>
                <a:gridCol w="1280160"/>
              </a:tblGrid>
              <a:tr h="411480">
                <a:tc>
                  <a:txBody>
                    <a:bodyPr/>
                    <a:lstStyle/>
                    <a:p>
                      <a:pPr algn="l" indent="0" marL="0">
                        <a:buNone/>
                      </a:pP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0B3C4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Today</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0B3C49"/>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CitedAuth</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0B3C49"/>
                    </a:solidFill>
                  </a:tcPr>
                </a:tc>
              </a:tr>
              <a:tr h="411480">
                <a:tc>
                  <a:txBody>
                    <a:bodyPr/>
                    <a:lstStyle/>
                    <a:p>
                      <a:pPr algn="l" indent="0" marL="0">
                        <a:buNone/>
                      </a:pPr>
                      <a:r>
                        <a:rPr lang="en-US" sz="1250" dirty="0">
                          <a:solidFill>
                            <a:srgbClr val="0B3C49"/>
                          </a:solidFill>
                          <a:latin typeface="Calibri" pitchFamily="34" charset="0"/>
                          <a:ea typeface="Calibri" pitchFamily="34" charset="-122"/>
                          <a:cs typeface="Calibri" pitchFamily="34" charset="-120"/>
                        </a:rPr>
                        <a:t>Minutes per request</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3C49"/>
                          </a:solidFill>
                          <a:latin typeface="Calibri" pitchFamily="34" charset="0"/>
                          <a:ea typeface="Calibri" pitchFamily="34" charset="-122"/>
                          <a:cs typeface="Calibri" pitchFamily="34" charset="-120"/>
                        </a:rPr>
                        <a:t>9.6</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3C49"/>
                          </a:solidFill>
                          <a:latin typeface="Calibri" pitchFamily="34" charset="0"/>
                          <a:ea typeface="Calibri" pitchFamily="34" charset="-122"/>
                          <a:cs typeface="Calibri" pitchFamily="34" charset="-120"/>
                        </a:rPr>
                        <a:t>~4 (verify)</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r>
              <a:tr h="411480">
                <a:tc>
                  <a:txBody>
                    <a:bodyPr/>
                    <a:lstStyle/>
                    <a:p>
                      <a:pPr algn="l" indent="0" marL="0">
                        <a:buNone/>
                      </a:pPr>
                      <a:r>
                        <a:rPr lang="en-US" sz="1250" dirty="0">
                          <a:solidFill>
                            <a:srgbClr val="0B3C49"/>
                          </a:solidFill>
                          <a:latin typeface="Calibri" pitchFamily="34" charset="0"/>
                          <a:ea typeface="Calibri" pitchFamily="34" charset="-122"/>
                          <a:cs typeface="Calibri" pitchFamily="34" charset="-120"/>
                        </a:rPr>
                        <a:t>Total minutes / day</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4F8F8"/>
                    </a:solidFill>
                  </a:tcPr>
                </a:tc>
                <a:tc>
                  <a:txBody>
                    <a:bodyPr/>
                    <a:lstStyle/>
                    <a:p>
                      <a:pPr algn="ctr" indent="0" marL="0">
                        <a:buNone/>
                      </a:pPr>
                      <a:r>
                        <a:rPr lang="en-US" sz="1250" dirty="0">
                          <a:solidFill>
                            <a:srgbClr val="0B3C49"/>
                          </a:solidFill>
                          <a:latin typeface="Calibri" pitchFamily="34" charset="0"/>
                          <a:ea typeface="Calibri" pitchFamily="34" charset="-122"/>
                          <a:cs typeface="Calibri" pitchFamily="34" charset="-120"/>
                        </a:rPr>
                        <a:t>4,800</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4F8F8"/>
                    </a:solidFill>
                  </a:tcPr>
                </a:tc>
                <a:tc>
                  <a:txBody>
                    <a:bodyPr/>
                    <a:lstStyle/>
                    <a:p>
                      <a:pPr algn="ctr" indent="0" marL="0">
                        <a:buNone/>
                      </a:pPr>
                      <a:r>
                        <a:rPr lang="en-US" sz="1250" dirty="0">
                          <a:solidFill>
                            <a:srgbClr val="0B3C49"/>
                          </a:solidFill>
                          <a:latin typeface="Calibri" pitchFamily="34" charset="0"/>
                          <a:ea typeface="Calibri" pitchFamily="34" charset="-122"/>
                          <a:cs typeface="Calibri" pitchFamily="34" charset="-120"/>
                        </a:rPr>
                        <a:t>2,000</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4F8F8"/>
                    </a:solidFill>
                  </a:tcPr>
                </a:tc>
              </a:tr>
              <a:tr h="411480">
                <a:tc>
                  <a:txBody>
                    <a:bodyPr/>
                    <a:lstStyle/>
                    <a:p>
                      <a:pPr algn="l" indent="0" marL="0">
                        <a:buNone/>
                      </a:pPr>
                      <a:r>
                        <a:rPr lang="en-US" sz="1250" dirty="0">
                          <a:solidFill>
                            <a:srgbClr val="0B3C49"/>
                          </a:solidFill>
                          <a:latin typeface="Calibri" pitchFamily="34" charset="0"/>
                          <a:ea typeface="Calibri" pitchFamily="34" charset="-122"/>
                          <a:cs typeface="Calibri" pitchFamily="34" charset="-120"/>
                        </a:rPr>
                        <a:t>Nurse-hours / day</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3C49"/>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0B3C49"/>
                          </a:solidFill>
                          <a:latin typeface="Calibri" pitchFamily="34" charset="0"/>
                          <a:ea typeface="Calibri" pitchFamily="34" charset="-122"/>
                          <a:cs typeface="Calibri" pitchFamily="34" charset="-120"/>
                        </a:rPr>
                        <a:t>33.3</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0B3C49"/>
                          </a:solidFill>
                          <a:latin typeface="Calibri" pitchFamily="34" charset="0"/>
                          <a:ea typeface="Calibri" pitchFamily="34" charset="-122"/>
                          <a:cs typeface="Calibri" pitchFamily="34" charset="-120"/>
                        </a:rPr>
                        <a:t>Hours returned / day</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4F8F8"/>
                    </a:solidFill>
                  </a:tcPr>
                </a:tc>
                <a:tc>
                  <a:txBody>
                    <a:bodyPr/>
                    <a:lstStyle/>
                    <a:p>
                      <a:pPr algn="ctr" indent="0" marL="0">
                        <a:buNone/>
                      </a:pP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4F8F8"/>
                    </a:solidFill>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46.7 (58%)</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4F8F8"/>
                    </a:solidFill>
                  </a:tcPr>
                </a:tc>
              </a:tr>
              <a:tr h="411480">
                <a:tc>
                  <a:txBody>
                    <a:bodyPr/>
                    <a:lstStyle/>
                    <a:p>
                      <a:pPr algn="l" indent="0" marL="0">
                        <a:buNone/>
                      </a:pPr>
                      <a:r>
                        <a:rPr lang="en-US" sz="1250" b="1" dirty="0">
                          <a:solidFill>
                            <a:srgbClr val="0B3C49"/>
                          </a:solidFill>
                          <a:latin typeface="Calibri" pitchFamily="34" charset="0"/>
                          <a:ea typeface="Calibri" pitchFamily="34" charset="-122"/>
                          <a:cs typeface="Calibri" pitchFamily="34" charset="-120"/>
                        </a:rPr>
                        <a:t>Hours returned / year</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c>
                  <a:txBody>
                    <a:bodyPr/>
                    <a:lstStyle/>
                    <a:p>
                      <a:pPr algn="ctr" indent="0" marL="0">
                        <a:buNone/>
                      </a:pP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0E7C7B"/>
                          </a:solidFill>
                          <a:latin typeface="Calibri" pitchFamily="34" charset="0"/>
                          <a:ea typeface="Calibri" pitchFamily="34" charset="-122"/>
                          <a:cs typeface="Calibri" pitchFamily="34" charset="-120"/>
                        </a:rPr>
                        <a:t>~11,700</a:t>
                      </a:r>
                      <a:endParaRPr lang="en-US" sz="1250" dirty="0">
                        <a:latin typeface="Calibri" charset="0"/>
                        <a:ea typeface="Calibri" charset="0"/>
                        <a:cs typeface="Calibri" charset="0"/>
                      </a:endParaRPr>
                    </a:p>
                  </a:txBody>
                  <a:tcPr marL="91440" marR="91440" marT="45720" marB="45720">
                    <a:lnL w="6350" cap="flat" cmpd="sng" algn="ctr">
                      <a:solidFill>
                        <a:srgbClr val="D5E4E2"/>
                      </a:solidFill>
                      <a:prstDash val="solid"/>
                      <a:round/>
                      <a:headEnd type="none" w="med" len="med"/>
                      <a:tailEnd type="none" w="med" len="med"/>
                    </a:lnL>
                    <a:lnR w="6350" cap="flat" cmpd="sng" algn="ctr">
                      <a:solidFill>
                        <a:srgbClr val="D5E4E2"/>
                      </a:solidFill>
                      <a:prstDash val="solid"/>
                      <a:round/>
                      <a:headEnd type="none" w="med" len="med"/>
                      <a:tailEnd type="none" w="med" len="med"/>
                    </a:lnR>
                    <a:lnT w="6350" cap="flat" cmpd="sng" algn="ctr">
                      <a:solidFill>
                        <a:srgbClr val="D5E4E2"/>
                      </a:solidFill>
                      <a:prstDash val="solid"/>
                      <a:round/>
                      <a:headEnd type="none" w="med" len="med"/>
                      <a:tailEnd type="none" w="med" len="med"/>
                    </a:lnT>
                    <a:lnB w="6350" cap="flat" cmpd="sng" algn="ctr">
                      <a:solidFill>
                        <a:srgbClr val="D5E4E2"/>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663440" y="3886200"/>
            <a:ext cx="4023360" cy="548640"/>
          </a:xfrm>
          <a:prstGeom prst="rect">
            <a:avLst/>
          </a:prstGeom>
          <a:noFill/>
          <a:ln/>
        </p:spPr>
        <p:txBody>
          <a:bodyPr wrap="square" lIns="0" tIns="0" rIns="0" bIns="0" rtlCol="0" anchor="ctr"/>
          <a:lstStyle/>
          <a:p>
            <a:pPr indent="0" marL="0">
              <a:buNone/>
            </a:pPr>
            <a:r>
              <a:rPr lang="en-US" sz="1300" i="1" dirty="0">
                <a:solidFill>
                  <a:srgbClr val="0E7C7B"/>
                </a:solidFill>
                <a:latin typeface="Calibri" pitchFamily="34" charset="0"/>
                <a:ea typeface="Calibri" pitchFamily="34" charset="-122"/>
                <a:cs typeface="Calibri" pitchFamily="34" charset="-120"/>
              </a:rPr>
              <a:t>That is roughly 5.6 full-time reviewers' worth of capacity freed every year.</a:t>
            </a:r>
            <a:endParaRPr lang="en-US" sz="1300" dirty="0"/>
          </a:p>
        </p:txBody>
      </p:sp>
      <p:sp>
        <p:nvSpPr>
          <p:cNvPr id="6" name="Text 2"/>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Assumptions: 500 requests/day, 250 working days/year, ~4 min nurse verification per AI-prepared request (to be validated in pilot). 11,700 hrs / 2,080 hrs per FTE = 5.6 FTE.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Money: ~$617K in reviewer capacity each year</a:t>
            </a:r>
            <a:endParaRPr lang="en-US" sz="3000" dirty="0"/>
          </a:p>
        </p:txBody>
      </p:sp>
      <p:sp>
        <p:nvSpPr>
          <p:cNvPr id="3" name="Shape 1"/>
          <p:cNvSpPr/>
          <p:nvPr/>
        </p:nvSpPr>
        <p:spPr>
          <a:xfrm>
            <a:off x="457200" y="1097280"/>
            <a:ext cx="3291840" cy="3383280"/>
          </a:xfrm>
          <a:prstGeom prst="roundRect">
            <a:avLst>
              <a:gd name="adj" fmla="val 2778"/>
            </a:avLst>
          </a:prstGeom>
          <a:solidFill>
            <a:srgbClr val="0B3C49"/>
          </a:solidFill>
          <a:ln w="12700">
            <a:solidFill>
              <a:srgbClr val="0B3C49"/>
            </a:solidFill>
            <a:prstDash val="solid"/>
          </a:ln>
        </p:spPr>
      </p:sp>
      <p:sp>
        <p:nvSpPr>
          <p:cNvPr id="4" name="Shape 2"/>
          <p:cNvSpPr/>
          <p:nvPr/>
        </p:nvSpPr>
        <p:spPr>
          <a:xfrm>
            <a:off x="1737360" y="1325880"/>
            <a:ext cx="731520" cy="731520"/>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1920240" y="1508760"/>
            <a:ext cx="365760" cy="365760"/>
          </a:xfrm>
          <a:prstGeom prst="rect">
            <a:avLst/>
          </a:prstGeom>
        </p:spPr>
      </p:pic>
      <p:sp>
        <p:nvSpPr>
          <p:cNvPr id="6" name="Text 3"/>
          <p:cNvSpPr txBox="1"/>
          <p:nvPr/>
        </p:nvSpPr>
        <p:spPr>
          <a:xfrm>
            <a:off x="457200" y="2194560"/>
            <a:ext cx="329184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$617K</a:t>
            </a:r>
            <a:endParaRPr lang="en-US" sz="4800" dirty="0"/>
          </a:p>
        </p:txBody>
      </p:sp>
      <p:sp>
        <p:nvSpPr>
          <p:cNvPr id="7" name="Text 4"/>
          <p:cNvSpPr txBox="1"/>
          <p:nvPr/>
        </p:nvSpPr>
        <p:spPr>
          <a:xfrm>
            <a:off x="640080" y="3017520"/>
            <a:ext cx="2926080" cy="457200"/>
          </a:xfrm>
          <a:prstGeom prst="rect">
            <a:avLst/>
          </a:prstGeom>
          <a:noFill/>
          <a:ln/>
        </p:spPr>
        <p:txBody>
          <a:bodyPr wrap="square" lIns="0" tIns="0" rIns="0" bIns="0" rtlCol="0" anchor="ctr"/>
          <a:lstStyle/>
          <a:p>
            <a:pPr algn="ctr" indent="0" marL="0">
              <a:buNone/>
            </a:pPr>
            <a:r>
              <a:rPr lang="en-US" sz="1400" dirty="0">
                <a:solidFill>
                  <a:srgbClr val="CFE8E5"/>
                </a:solidFill>
                <a:latin typeface="Calibri" pitchFamily="34" charset="0"/>
                <a:ea typeface="Calibri" pitchFamily="34" charset="-122"/>
                <a:cs typeface="Calibri" pitchFamily="34" charset="-120"/>
              </a:rPr>
              <a:t>annual value of nurse time returned</a:t>
            </a:r>
            <a:endParaRPr lang="en-US" sz="1400" dirty="0"/>
          </a:p>
        </p:txBody>
      </p:sp>
      <p:sp>
        <p:nvSpPr>
          <p:cNvPr id="8" name="Text 5"/>
          <p:cNvSpPr txBox="1"/>
          <p:nvPr/>
        </p:nvSpPr>
        <p:spPr>
          <a:xfrm>
            <a:off x="640080" y="3566160"/>
            <a:ext cx="2926080" cy="640080"/>
          </a:xfrm>
          <a:prstGeom prst="rect">
            <a:avLst/>
          </a:prstGeom>
          <a:noFill/>
          <a:ln/>
        </p:spPr>
        <p:txBody>
          <a:bodyPr wrap="square" lIns="0" tIns="0" rIns="0" bIns="0" rtlCol="0" anchor="ctr"/>
          <a:lstStyle/>
          <a:p>
            <a:pPr algn="ctr" indent="0" marL="0">
              <a:buNone/>
            </a:pPr>
            <a:r>
              <a:rPr lang="en-US" sz="1200" i="1" dirty="0">
                <a:solidFill>
                  <a:srgbClr val="E8A33D"/>
                </a:solidFill>
                <a:latin typeface="Calibri" pitchFamily="34" charset="0"/>
                <a:ea typeface="Calibri" pitchFamily="34" charset="-122"/>
                <a:cs typeface="Calibri" pitchFamily="34" charset="-120"/>
              </a:rPr>
              <a:t>vs. an estimated few thousand dollars a year in AI running cost</a:t>
            </a:r>
            <a:endParaRPr lang="en-US" sz="1200" dirty="0"/>
          </a:p>
        </p:txBody>
      </p:sp>
      <p:sp>
        <p:nvSpPr>
          <p:cNvPr id="9" name="Shape 6"/>
          <p:cNvSpPr/>
          <p:nvPr/>
        </p:nvSpPr>
        <p:spPr>
          <a:xfrm>
            <a:off x="4114800" y="1188720"/>
            <a:ext cx="4572000" cy="457200"/>
          </a:xfrm>
          <a:prstGeom prst="roundRect">
            <a:avLst>
              <a:gd name="adj" fmla="val 12000"/>
            </a:avLst>
          </a:prstGeom>
          <a:solidFill>
            <a:srgbClr val="FFFFFF"/>
          </a:solidFill>
          <a:ln w="12700">
            <a:solidFill>
              <a:srgbClr val="D5E4E2"/>
            </a:solidFill>
            <a:prstDash val="solid"/>
          </a:ln>
        </p:spPr>
      </p:sp>
      <p:sp>
        <p:nvSpPr>
          <p:cNvPr id="10" name="Text 7"/>
          <p:cNvSpPr txBox="1"/>
          <p:nvPr/>
        </p:nvSpPr>
        <p:spPr>
          <a:xfrm>
            <a:off x="4297680" y="1188720"/>
            <a:ext cx="2651760" cy="457200"/>
          </a:xfrm>
          <a:prstGeom prst="rect">
            <a:avLst/>
          </a:prstGeom>
          <a:noFill/>
          <a:ln/>
        </p:spPr>
        <p:txBody>
          <a:bodyPr wrap="square" lIns="0" tIns="0" rIns="0" bIns="0" rtlCol="0" anchor="ctr"/>
          <a:lstStyle/>
          <a:p>
            <a:pPr indent="0" marL="0">
              <a:buNone/>
            </a:pPr>
            <a:r>
              <a:rPr lang="en-US" sz="1300" dirty="0">
                <a:solidFill>
                  <a:srgbClr val="0B3C49"/>
                </a:solidFill>
                <a:latin typeface="Calibri" pitchFamily="34" charset="0"/>
                <a:ea typeface="Calibri" pitchFamily="34" charset="-122"/>
                <a:cs typeface="Calibri" pitchFamily="34" charset="-120"/>
              </a:rPr>
              <a:t>Fully loaded cost per nurse</a:t>
            </a:r>
            <a:endParaRPr lang="en-US" sz="1300" dirty="0"/>
          </a:p>
        </p:txBody>
      </p:sp>
      <p:sp>
        <p:nvSpPr>
          <p:cNvPr id="11" name="Text 8"/>
          <p:cNvSpPr txBox="1"/>
          <p:nvPr/>
        </p:nvSpPr>
        <p:spPr>
          <a:xfrm>
            <a:off x="6858000" y="1188720"/>
            <a:ext cx="1691640" cy="457200"/>
          </a:xfrm>
          <a:prstGeom prst="rect">
            <a:avLst/>
          </a:prstGeom>
          <a:noFill/>
          <a:ln/>
        </p:spPr>
        <p:txBody>
          <a:bodyPr wrap="square" lIns="0" tIns="0" rIns="0" bIns="0" rtlCol="0" anchor="ctr"/>
          <a:lstStyle/>
          <a:p>
            <a:pPr algn="r" indent="0" marL="0">
              <a:buNone/>
            </a:pPr>
            <a:r>
              <a:rPr lang="en-US" sz="1300" b="1" dirty="0">
                <a:solidFill>
                  <a:srgbClr val="0E7C7B"/>
                </a:solidFill>
                <a:latin typeface="Calibri" pitchFamily="34" charset="0"/>
                <a:ea typeface="Calibri" pitchFamily="34" charset="-122"/>
                <a:cs typeface="Calibri" pitchFamily="34" charset="-120"/>
              </a:rPr>
              <a:t>$110,000 / year</a:t>
            </a:r>
            <a:endParaRPr lang="en-US" sz="1300" dirty="0"/>
          </a:p>
        </p:txBody>
      </p:sp>
      <p:sp>
        <p:nvSpPr>
          <p:cNvPr id="12" name="Shape 9"/>
          <p:cNvSpPr/>
          <p:nvPr/>
        </p:nvSpPr>
        <p:spPr>
          <a:xfrm>
            <a:off x="4114800" y="1755648"/>
            <a:ext cx="4572000" cy="457200"/>
          </a:xfrm>
          <a:prstGeom prst="roundRect">
            <a:avLst>
              <a:gd name="adj" fmla="val 12000"/>
            </a:avLst>
          </a:prstGeom>
          <a:solidFill>
            <a:srgbClr val="FFFFFF"/>
          </a:solidFill>
          <a:ln w="12700">
            <a:solidFill>
              <a:srgbClr val="D5E4E2"/>
            </a:solidFill>
            <a:prstDash val="solid"/>
          </a:ln>
        </p:spPr>
      </p:sp>
      <p:sp>
        <p:nvSpPr>
          <p:cNvPr id="13" name="Text 10"/>
          <p:cNvSpPr txBox="1"/>
          <p:nvPr/>
        </p:nvSpPr>
        <p:spPr>
          <a:xfrm>
            <a:off x="4297680" y="1755648"/>
            <a:ext cx="2651760" cy="457200"/>
          </a:xfrm>
          <a:prstGeom prst="rect">
            <a:avLst/>
          </a:prstGeom>
          <a:noFill/>
          <a:ln/>
        </p:spPr>
        <p:txBody>
          <a:bodyPr wrap="square" lIns="0" tIns="0" rIns="0" bIns="0" rtlCol="0" anchor="ctr"/>
          <a:lstStyle/>
          <a:p>
            <a:pPr indent="0" marL="0">
              <a:buNone/>
            </a:pPr>
            <a:r>
              <a:rPr lang="en-US" sz="1300" dirty="0">
                <a:solidFill>
                  <a:srgbClr val="0B3C49"/>
                </a:solidFill>
                <a:latin typeface="Calibri" pitchFamily="34" charset="0"/>
                <a:ea typeface="Calibri" pitchFamily="34" charset="-122"/>
                <a:cs typeface="Calibri" pitchFamily="34" charset="-120"/>
              </a:rPr>
              <a:t>Hourly cost (/ 2,080 hrs)</a:t>
            </a:r>
            <a:endParaRPr lang="en-US" sz="1300" dirty="0"/>
          </a:p>
        </p:txBody>
      </p:sp>
      <p:sp>
        <p:nvSpPr>
          <p:cNvPr id="14" name="Text 11"/>
          <p:cNvSpPr txBox="1"/>
          <p:nvPr/>
        </p:nvSpPr>
        <p:spPr>
          <a:xfrm>
            <a:off x="6858000" y="1755648"/>
            <a:ext cx="1691640" cy="457200"/>
          </a:xfrm>
          <a:prstGeom prst="rect">
            <a:avLst/>
          </a:prstGeom>
          <a:noFill/>
          <a:ln/>
        </p:spPr>
        <p:txBody>
          <a:bodyPr wrap="square" lIns="0" tIns="0" rIns="0" bIns="0" rtlCol="0" anchor="ctr"/>
          <a:lstStyle/>
          <a:p>
            <a:pPr algn="r" indent="0" marL="0">
              <a:buNone/>
            </a:pPr>
            <a:r>
              <a:rPr lang="en-US" sz="1300" b="1" dirty="0">
                <a:solidFill>
                  <a:srgbClr val="0E7C7B"/>
                </a:solidFill>
                <a:latin typeface="Calibri" pitchFamily="34" charset="0"/>
                <a:ea typeface="Calibri" pitchFamily="34" charset="-122"/>
                <a:cs typeface="Calibri" pitchFamily="34" charset="-120"/>
              </a:rPr>
              <a:t>~$52.88 / hour</a:t>
            </a:r>
            <a:endParaRPr lang="en-US" sz="1300" dirty="0"/>
          </a:p>
        </p:txBody>
      </p:sp>
      <p:sp>
        <p:nvSpPr>
          <p:cNvPr id="15" name="Shape 12"/>
          <p:cNvSpPr/>
          <p:nvPr/>
        </p:nvSpPr>
        <p:spPr>
          <a:xfrm>
            <a:off x="4114800" y="2322576"/>
            <a:ext cx="4572000" cy="457200"/>
          </a:xfrm>
          <a:prstGeom prst="roundRect">
            <a:avLst>
              <a:gd name="adj" fmla="val 12000"/>
            </a:avLst>
          </a:prstGeom>
          <a:solidFill>
            <a:srgbClr val="FFFFFF"/>
          </a:solidFill>
          <a:ln w="12700">
            <a:solidFill>
              <a:srgbClr val="D5E4E2"/>
            </a:solidFill>
            <a:prstDash val="solid"/>
          </a:ln>
        </p:spPr>
      </p:sp>
      <p:sp>
        <p:nvSpPr>
          <p:cNvPr id="16" name="Text 13"/>
          <p:cNvSpPr txBox="1"/>
          <p:nvPr/>
        </p:nvSpPr>
        <p:spPr>
          <a:xfrm>
            <a:off x="4297680" y="2322576"/>
            <a:ext cx="2651760" cy="457200"/>
          </a:xfrm>
          <a:prstGeom prst="rect">
            <a:avLst/>
          </a:prstGeom>
          <a:noFill/>
          <a:ln/>
        </p:spPr>
        <p:txBody>
          <a:bodyPr wrap="square" lIns="0" tIns="0" rIns="0" bIns="0" rtlCol="0" anchor="ctr"/>
          <a:lstStyle/>
          <a:p>
            <a:pPr indent="0" marL="0">
              <a:buNone/>
            </a:pPr>
            <a:r>
              <a:rPr lang="en-US" sz="1300" dirty="0">
                <a:solidFill>
                  <a:srgbClr val="0B3C49"/>
                </a:solidFill>
                <a:latin typeface="Calibri" pitchFamily="34" charset="0"/>
                <a:ea typeface="Calibri" pitchFamily="34" charset="-122"/>
                <a:cs typeface="Calibri" pitchFamily="34" charset="-120"/>
              </a:rPr>
              <a:t>Hours returned per day</a:t>
            </a:r>
            <a:endParaRPr lang="en-US" sz="1300" dirty="0"/>
          </a:p>
        </p:txBody>
      </p:sp>
      <p:sp>
        <p:nvSpPr>
          <p:cNvPr id="17" name="Text 14"/>
          <p:cNvSpPr txBox="1"/>
          <p:nvPr/>
        </p:nvSpPr>
        <p:spPr>
          <a:xfrm>
            <a:off x="6858000" y="2322576"/>
            <a:ext cx="1691640" cy="457200"/>
          </a:xfrm>
          <a:prstGeom prst="rect">
            <a:avLst/>
          </a:prstGeom>
          <a:noFill/>
          <a:ln/>
        </p:spPr>
        <p:txBody>
          <a:bodyPr wrap="square" lIns="0" tIns="0" rIns="0" bIns="0" rtlCol="0" anchor="ctr"/>
          <a:lstStyle/>
          <a:p>
            <a:pPr algn="r" indent="0" marL="0">
              <a:buNone/>
            </a:pPr>
            <a:r>
              <a:rPr lang="en-US" sz="1300" b="1" dirty="0">
                <a:solidFill>
                  <a:srgbClr val="0E7C7B"/>
                </a:solidFill>
                <a:latin typeface="Calibri" pitchFamily="34" charset="0"/>
                <a:ea typeface="Calibri" pitchFamily="34" charset="-122"/>
                <a:cs typeface="Calibri" pitchFamily="34" charset="-120"/>
              </a:rPr>
              <a:t>x 46.7</a:t>
            </a:r>
            <a:endParaRPr lang="en-US" sz="1300" dirty="0"/>
          </a:p>
        </p:txBody>
      </p:sp>
      <p:sp>
        <p:nvSpPr>
          <p:cNvPr id="18" name="Shape 15"/>
          <p:cNvSpPr/>
          <p:nvPr/>
        </p:nvSpPr>
        <p:spPr>
          <a:xfrm>
            <a:off x="4114800" y="2889504"/>
            <a:ext cx="4572000" cy="457200"/>
          </a:xfrm>
          <a:prstGeom prst="roundRect">
            <a:avLst>
              <a:gd name="adj" fmla="val 12000"/>
            </a:avLst>
          </a:prstGeom>
          <a:solidFill>
            <a:srgbClr val="FFFFFF"/>
          </a:solidFill>
          <a:ln w="12700">
            <a:solidFill>
              <a:srgbClr val="D5E4E2"/>
            </a:solidFill>
            <a:prstDash val="solid"/>
          </a:ln>
        </p:spPr>
      </p:sp>
      <p:sp>
        <p:nvSpPr>
          <p:cNvPr id="19" name="Text 16"/>
          <p:cNvSpPr txBox="1"/>
          <p:nvPr/>
        </p:nvSpPr>
        <p:spPr>
          <a:xfrm>
            <a:off x="4297680" y="2889504"/>
            <a:ext cx="2651760" cy="457200"/>
          </a:xfrm>
          <a:prstGeom prst="rect">
            <a:avLst/>
          </a:prstGeom>
          <a:noFill/>
          <a:ln/>
        </p:spPr>
        <p:txBody>
          <a:bodyPr wrap="square" lIns="0" tIns="0" rIns="0" bIns="0" rtlCol="0" anchor="ctr"/>
          <a:lstStyle/>
          <a:p>
            <a:pPr indent="0" marL="0">
              <a:buNone/>
            </a:pPr>
            <a:r>
              <a:rPr lang="en-US" sz="1300" dirty="0">
                <a:solidFill>
                  <a:srgbClr val="0B3C49"/>
                </a:solidFill>
                <a:latin typeface="Calibri" pitchFamily="34" charset="0"/>
                <a:ea typeface="Calibri" pitchFamily="34" charset="-122"/>
                <a:cs typeface="Calibri" pitchFamily="34" charset="-120"/>
              </a:rPr>
              <a:t>Value per day</a:t>
            </a:r>
            <a:endParaRPr lang="en-US" sz="1300" dirty="0"/>
          </a:p>
        </p:txBody>
      </p:sp>
      <p:sp>
        <p:nvSpPr>
          <p:cNvPr id="20" name="Text 17"/>
          <p:cNvSpPr txBox="1"/>
          <p:nvPr/>
        </p:nvSpPr>
        <p:spPr>
          <a:xfrm>
            <a:off x="6858000" y="2889504"/>
            <a:ext cx="1691640" cy="457200"/>
          </a:xfrm>
          <a:prstGeom prst="rect">
            <a:avLst/>
          </a:prstGeom>
          <a:noFill/>
          <a:ln/>
        </p:spPr>
        <p:txBody>
          <a:bodyPr wrap="square" lIns="0" tIns="0" rIns="0" bIns="0" rtlCol="0" anchor="ctr"/>
          <a:lstStyle/>
          <a:p>
            <a:pPr algn="r" indent="0" marL="0">
              <a:buNone/>
            </a:pPr>
            <a:r>
              <a:rPr lang="en-US" sz="1300" b="1" dirty="0">
                <a:solidFill>
                  <a:srgbClr val="0E7C7B"/>
                </a:solidFill>
                <a:latin typeface="Calibri" pitchFamily="34" charset="0"/>
                <a:ea typeface="Calibri" pitchFamily="34" charset="-122"/>
                <a:cs typeface="Calibri" pitchFamily="34" charset="-120"/>
              </a:rPr>
              <a:t>~$2,470</a:t>
            </a:r>
            <a:endParaRPr lang="en-US" sz="1300" dirty="0"/>
          </a:p>
        </p:txBody>
      </p:sp>
      <p:sp>
        <p:nvSpPr>
          <p:cNvPr id="21" name="Shape 18"/>
          <p:cNvSpPr/>
          <p:nvPr/>
        </p:nvSpPr>
        <p:spPr>
          <a:xfrm>
            <a:off x="4114800" y="3456432"/>
            <a:ext cx="4572000" cy="457200"/>
          </a:xfrm>
          <a:prstGeom prst="roundRect">
            <a:avLst>
              <a:gd name="adj" fmla="val 12000"/>
            </a:avLst>
          </a:prstGeom>
          <a:solidFill>
            <a:srgbClr val="0E7C7B"/>
          </a:solidFill>
          <a:ln w="12700">
            <a:solidFill>
              <a:srgbClr val="0E7C7B"/>
            </a:solidFill>
            <a:prstDash val="solid"/>
          </a:ln>
        </p:spPr>
      </p:sp>
      <p:sp>
        <p:nvSpPr>
          <p:cNvPr id="22" name="Text 19"/>
          <p:cNvSpPr txBox="1"/>
          <p:nvPr/>
        </p:nvSpPr>
        <p:spPr>
          <a:xfrm>
            <a:off x="4297680" y="3456432"/>
            <a:ext cx="265176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Value per year (x 250 days)</a:t>
            </a:r>
            <a:endParaRPr lang="en-US" sz="1300" dirty="0"/>
          </a:p>
        </p:txBody>
      </p:sp>
      <p:sp>
        <p:nvSpPr>
          <p:cNvPr id="23" name="Text 20"/>
          <p:cNvSpPr txBox="1"/>
          <p:nvPr/>
        </p:nvSpPr>
        <p:spPr>
          <a:xfrm>
            <a:off x="6858000" y="3456432"/>
            <a:ext cx="1691640" cy="457200"/>
          </a:xfrm>
          <a:prstGeom prst="rect">
            <a:avLst/>
          </a:prstGeom>
          <a:noFill/>
          <a:ln/>
        </p:spPr>
        <p:txBody>
          <a:bodyPr wrap="square" lIns="0" tIns="0" rIns="0" bIns="0" rtlCol="0" anchor="ctr"/>
          <a:lstStyle/>
          <a:p>
            <a:pPr algn="r" indent="0" marL="0">
              <a:buNone/>
            </a:pPr>
            <a:r>
              <a:rPr lang="en-US" sz="1300" b="1" dirty="0">
                <a:solidFill>
                  <a:srgbClr val="FFFFFF"/>
                </a:solidFill>
                <a:latin typeface="Calibri" pitchFamily="34" charset="0"/>
                <a:ea typeface="Calibri" pitchFamily="34" charset="-122"/>
                <a:cs typeface="Calibri" pitchFamily="34" charset="-120"/>
              </a:rPr>
              <a:t>~$617,000</a:t>
            </a:r>
            <a:endParaRPr lang="en-US" sz="1300" dirty="0"/>
          </a:p>
        </p:txBody>
      </p:sp>
      <p:sp>
        <p:nvSpPr>
          <p:cNvPr id="24" name="Text 21"/>
          <p:cNvSpPr txBox="1"/>
          <p:nvPr/>
        </p:nvSpPr>
        <p:spPr>
          <a:xfrm>
            <a:off x="4114800" y="4069080"/>
            <a:ext cx="4572000" cy="457200"/>
          </a:xfrm>
          <a:prstGeom prst="rect">
            <a:avLst/>
          </a:prstGeom>
          <a:noFill/>
          <a:ln/>
        </p:spPr>
        <p:txBody>
          <a:bodyPr wrap="square" lIns="0" tIns="0" rIns="0" bIns="0" rtlCol="0" anchor="ctr"/>
          <a:lstStyle/>
          <a:p>
            <a:pPr indent="0" marL="0">
              <a:buNone/>
            </a:pPr>
            <a:r>
              <a:rPr lang="en-US" sz="1200" i="1" dirty="0">
                <a:solidFill>
                  <a:srgbClr val="5B6770"/>
                </a:solidFill>
                <a:latin typeface="Calibri" pitchFamily="34" charset="0"/>
                <a:ea typeface="Calibri" pitchFamily="34" charset="-122"/>
                <a:cs typeface="Calibri" pitchFamily="34" charset="-120"/>
              </a:rPr>
              <a:t>Capacity can be redeployed to growth, complex cases, and overtime reduction without new hires.</a:t>
            </a:r>
            <a:endParaRPr lang="en-US" sz="1200" dirty="0"/>
          </a:p>
        </p:txBody>
      </p:sp>
      <p:sp>
        <p:nvSpPr>
          <p:cNvPr id="25" name="Text 22"/>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AI cost estimated at a few cents per request across ~125,000 requests/year; exact figure measured per call during pilot. Excludes implementation and support.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Healthier workload, stronger retention</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Nurses shift from reading every page to applying clinical judgment</a:t>
            </a:r>
            <a:endParaRPr lang="en-US" sz="1400" dirty="0"/>
          </a:p>
        </p:txBody>
      </p:sp>
      <p:sp>
        <p:nvSpPr>
          <p:cNvPr id="4" name="Shape 2"/>
          <p:cNvSpPr/>
          <p:nvPr/>
        </p:nvSpPr>
        <p:spPr>
          <a:xfrm>
            <a:off x="457200" y="1371600"/>
            <a:ext cx="3931920" cy="3108960"/>
          </a:xfrm>
          <a:prstGeom prst="roundRect">
            <a:avLst>
              <a:gd name="adj" fmla="val 2941"/>
            </a:avLst>
          </a:prstGeom>
          <a:solidFill>
            <a:srgbClr val="E6F4F1"/>
          </a:solidFill>
          <a:ln w="12700">
            <a:solidFill>
              <a:srgbClr val="E6F4F1"/>
            </a:solidFill>
            <a:prstDash val="solid"/>
          </a:ln>
        </p:spPr>
      </p:sp>
      <p:sp>
        <p:nvSpPr>
          <p:cNvPr id="5" name="Shape 3"/>
          <p:cNvSpPr/>
          <p:nvPr/>
        </p:nvSpPr>
        <p:spPr>
          <a:xfrm>
            <a:off x="685800" y="1600200"/>
            <a:ext cx="640080" cy="64008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845820" y="1760220"/>
            <a:ext cx="320040" cy="320040"/>
          </a:xfrm>
          <a:prstGeom prst="rect">
            <a:avLst/>
          </a:prstGeom>
        </p:spPr>
      </p:pic>
      <p:sp>
        <p:nvSpPr>
          <p:cNvPr id="7" name="Text 4"/>
          <p:cNvSpPr txBox="1"/>
          <p:nvPr/>
        </p:nvSpPr>
        <p:spPr>
          <a:xfrm>
            <a:off x="1463040" y="1691640"/>
            <a:ext cx="2834640" cy="45720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What changes for your nurses</a:t>
            </a:r>
            <a:endParaRPr lang="en-US" sz="1500" dirty="0"/>
          </a:p>
        </p:txBody>
      </p:sp>
      <p:sp>
        <p:nvSpPr>
          <p:cNvPr id="8" name="Text 5"/>
          <p:cNvSpPr txBox="1"/>
          <p:nvPr/>
        </p:nvSpPr>
        <p:spPr>
          <a:xfrm>
            <a:off x="685800" y="2377440"/>
            <a:ext cx="3566160" cy="1920240"/>
          </a:xfrm>
          <a:prstGeom prst="rect">
            <a:avLst/>
          </a:prstGeom>
          <a:noFill/>
          <a:ln/>
        </p:spPr>
        <p:txBody>
          <a:bodyPr wrap="square" rtlCol="0" anchor="t"/>
          <a:lstStyle/>
          <a:p>
            <a:pPr marL="342900" indent="-342900">
              <a:spcAft>
                <a:spcPts val="600"/>
              </a:spcAft>
              <a:buSzPct val="100000"/>
              <a:buChar char="•"/>
            </a:pPr>
            <a:r>
              <a:rPr lang="en-US" sz="1350" dirty="0">
                <a:solidFill>
                  <a:srgbClr val="0B3C49"/>
                </a:solidFill>
                <a:latin typeface="Calibri" pitchFamily="34" charset="0"/>
                <a:ea typeface="Calibri" pitchFamily="34" charset="-122"/>
                <a:cs typeface="Calibri" pitchFamily="34" charset="-120"/>
              </a:rPr>
              <a:t>~58% less time on repetitive first-pass reading</a:t>
            </a:r>
            <a:endParaRPr lang="en-US" sz="1350" dirty="0"/>
          </a:p>
          <a:p>
            <a:pPr marL="342900" indent="-342900">
              <a:spcAft>
                <a:spcPts val="600"/>
              </a:spcAft>
              <a:buSzPct val="100000"/>
              <a:buChar char="•"/>
            </a:pPr>
            <a:r>
              <a:rPr lang="en-US" sz="1350" dirty="0">
                <a:solidFill>
                  <a:srgbClr val="0B3C49"/>
                </a:solidFill>
                <a:latin typeface="Calibri" pitchFamily="34" charset="0"/>
                <a:ea typeface="Calibri" pitchFamily="34" charset="-122"/>
                <a:cs typeface="Calibri" pitchFamily="34" charset="-120"/>
              </a:rPr>
              <a:t>Room to breathe on high-volume days, less overtime</a:t>
            </a:r>
            <a:endParaRPr lang="en-US" sz="1350" dirty="0"/>
          </a:p>
          <a:p>
            <a:pPr marL="342900" indent="-342900">
              <a:spcAft>
                <a:spcPts val="600"/>
              </a:spcAft>
              <a:buSzPct val="100000"/>
              <a:buChar char="•"/>
            </a:pPr>
            <a:r>
              <a:rPr lang="en-US" sz="1350" dirty="0">
                <a:solidFill>
                  <a:srgbClr val="0B3C49"/>
                </a:solidFill>
                <a:latin typeface="Calibri" pitchFamily="34" charset="0"/>
                <a:ea typeface="Calibri" pitchFamily="34" charset="-122"/>
                <a:cs typeface="Calibri" pitchFamily="34" charset="-120"/>
              </a:rPr>
              <a:t>More time on complex and urgent cases</a:t>
            </a:r>
            <a:endParaRPr lang="en-US" sz="1350" dirty="0"/>
          </a:p>
          <a:p>
            <a:pPr marL="342900" indent="-342900">
              <a:spcAft>
                <a:spcPts val="600"/>
              </a:spcAft>
              <a:buSzPct val="100000"/>
              <a:buChar char="•"/>
            </a:pPr>
            <a:r>
              <a:rPr lang="en-US" sz="1350" dirty="0">
                <a:solidFill>
                  <a:srgbClr val="0B3C49"/>
                </a:solidFill>
                <a:latin typeface="Calibri" pitchFamily="34" charset="0"/>
                <a:ea typeface="Calibri" pitchFamily="34" charset="-122"/>
                <a:cs typeface="Calibri" pitchFamily="34" charset="-120"/>
              </a:rPr>
              <a:t>Letters written for them, not by hand</a:t>
            </a:r>
            <a:endParaRPr lang="en-US" sz="1350" dirty="0"/>
          </a:p>
        </p:txBody>
      </p:sp>
      <p:sp>
        <p:nvSpPr>
          <p:cNvPr id="9" name="Text 6"/>
          <p:cNvSpPr txBox="1"/>
          <p:nvPr/>
        </p:nvSpPr>
        <p:spPr>
          <a:xfrm>
            <a:off x="4754880" y="1371600"/>
            <a:ext cx="3931920" cy="36576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Illustrative retention math</a:t>
            </a:r>
            <a:endParaRPr lang="en-US" sz="1500" dirty="0"/>
          </a:p>
        </p:txBody>
      </p:sp>
      <p:sp>
        <p:nvSpPr>
          <p:cNvPr id="10" name="Shape 7"/>
          <p:cNvSpPr/>
          <p:nvPr/>
        </p:nvSpPr>
        <p:spPr>
          <a:xfrm>
            <a:off x="4754880" y="1828800"/>
            <a:ext cx="3931920" cy="502920"/>
          </a:xfrm>
          <a:prstGeom prst="roundRect">
            <a:avLst>
              <a:gd name="adj" fmla="val 10909"/>
            </a:avLst>
          </a:prstGeom>
          <a:solidFill>
            <a:srgbClr val="F4F8F8"/>
          </a:solidFill>
          <a:ln w="12700">
            <a:solidFill>
              <a:srgbClr val="D5E4E2"/>
            </a:solidFill>
            <a:prstDash val="solid"/>
          </a:ln>
        </p:spPr>
      </p:sp>
      <p:sp>
        <p:nvSpPr>
          <p:cNvPr id="11" name="Text 8"/>
          <p:cNvSpPr txBox="1"/>
          <p:nvPr/>
        </p:nvSpPr>
        <p:spPr>
          <a:xfrm>
            <a:off x="4937760" y="1828800"/>
            <a:ext cx="2560320" cy="502920"/>
          </a:xfrm>
          <a:prstGeom prst="rect">
            <a:avLst/>
          </a:prstGeom>
          <a:noFill/>
          <a:ln/>
        </p:spPr>
        <p:txBody>
          <a:bodyPr wrap="square" lIns="0" tIns="0" rIns="0" bIns="0" rtlCol="0" anchor="ctr"/>
          <a:lstStyle/>
          <a:p>
            <a:pPr indent="0" marL="0">
              <a:buNone/>
            </a:pPr>
            <a:r>
              <a:rPr lang="en-US" sz="1300" dirty="0">
                <a:solidFill>
                  <a:srgbClr val="0B3C49"/>
                </a:solidFill>
                <a:latin typeface="Calibri" pitchFamily="34" charset="0"/>
                <a:ea typeface="Calibri" pitchFamily="34" charset="-122"/>
                <a:cs typeface="Calibri" pitchFamily="34" charset="-120"/>
              </a:rPr>
              <a:t>Cost to replace one reviewer</a:t>
            </a:r>
            <a:endParaRPr lang="en-US" sz="1300" dirty="0"/>
          </a:p>
        </p:txBody>
      </p:sp>
      <p:sp>
        <p:nvSpPr>
          <p:cNvPr id="12" name="Text 9"/>
          <p:cNvSpPr txBox="1"/>
          <p:nvPr/>
        </p:nvSpPr>
        <p:spPr>
          <a:xfrm>
            <a:off x="7406640" y="1828800"/>
            <a:ext cx="1143000" cy="502920"/>
          </a:xfrm>
          <a:prstGeom prst="rect">
            <a:avLst/>
          </a:prstGeom>
          <a:noFill/>
          <a:ln/>
        </p:spPr>
        <p:txBody>
          <a:bodyPr wrap="square" lIns="0" tIns="0" rIns="0" bIns="0" rtlCol="0" anchor="ctr"/>
          <a:lstStyle/>
          <a:p>
            <a:pPr algn="r" indent="0" marL="0">
              <a:buNone/>
            </a:pPr>
            <a:r>
              <a:rPr lang="en-US" sz="1400" b="1" dirty="0">
                <a:solidFill>
                  <a:srgbClr val="0B3C49"/>
                </a:solidFill>
                <a:latin typeface="Calibri" pitchFamily="34" charset="0"/>
                <a:ea typeface="Calibri" pitchFamily="34" charset="-122"/>
                <a:cs typeface="Calibri" pitchFamily="34" charset="-120"/>
              </a:rPr>
              <a:t>~$50K</a:t>
            </a:r>
            <a:endParaRPr lang="en-US" sz="1400" dirty="0"/>
          </a:p>
        </p:txBody>
      </p:sp>
      <p:sp>
        <p:nvSpPr>
          <p:cNvPr id="13" name="Shape 10"/>
          <p:cNvSpPr/>
          <p:nvPr/>
        </p:nvSpPr>
        <p:spPr>
          <a:xfrm>
            <a:off x="4754880" y="2468880"/>
            <a:ext cx="3931920" cy="502920"/>
          </a:xfrm>
          <a:prstGeom prst="roundRect">
            <a:avLst>
              <a:gd name="adj" fmla="val 10909"/>
            </a:avLst>
          </a:prstGeom>
          <a:solidFill>
            <a:srgbClr val="F4F8F8"/>
          </a:solidFill>
          <a:ln w="12700">
            <a:solidFill>
              <a:srgbClr val="D5E4E2"/>
            </a:solidFill>
            <a:prstDash val="solid"/>
          </a:ln>
        </p:spPr>
      </p:sp>
      <p:sp>
        <p:nvSpPr>
          <p:cNvPr id="14" name="Text 11"/>
          <p:cNvSpPr txBox="1"/>
          <p:nvPr/>
        </p:nvSpPr>
        <p:spPr>
          <a:xfrm>
            <a:off x="4937760" y="2468880"/>
            <a:ext cx="2560320" cy="502920"/>
          </a:xfrm>
          <a:prstGeom prst="rect">
            <a:avLst/>
          </a:prstGeom>
          <a:noFill/>
          <a:ln/>
        </p:spPr>
        <p:txBody>
          <a:bodyPr wrap="square" lIns="0" tIns="0" rIns="0" bIns="0" rtlCol="0" anchor="ctr"/>
          <a:lstStyle/>
          <a:p>
            <a:pPr indent="0" marL="0">
              <a:buNone/>
            </a:pPr>
            <a:r>
              <a:rPr lang="en-US" sz="1300" dirty="0">
                <a:solidFill>
                  <a:srgbClr val="0B3C49"/>
                </a:solidFill>
                <a:latin typeface="Calibri" pitchFamily="34" charset="0"/>
                <a:ea typeface="Calibri" pitchFamily="34" charset="-122"/>
                <a:cs typeface="Calibri" pitchFamily="34" charset="-120"/>
              </a:rPr>
              <a:t>Departures avoided per year</a:t>
            </a:r>
            <a:endParaRPr lang="en-US" sz="1300" dirty="0"/>
          </a:p>
        </p:txBody>
      </p:sp>
      <p:sp>
        <p:nvSpPr>
          <p:cNvPr id="15" name="Text 12"/>
          <p:cNvSpPr txBox="1"/>
          <p:nvPr/>
        </p:nvSpPr>
        <p:spPr>
          <a:xfrm>
            <a:off x="7406640" y="2468880"/>
            <a:ext cx="1143000" cy="502920"/>
          </a:xfrm>
          <a:prstGeom prst="rect">
            <a:avLst/>
          </a:prstGeom>
          <a:noFill/>
          <a:ln/>
        </p:spPr>
        <p:txBody>
          <a:bodyPr wrap="square" lIns="0" tIns="0" rIns="0" bIns="0" rtlCol="0" anchor="ctr"/>
          <a:lstStyle/>
          <a:p>
            <a:pPr algn="r" indent="0" marL="0">
              <a:buNone/>
            </a:pPr>
            <a:r>
              <a:rPr lang="en-US" sz="1400" b="1" dirty="0">
                <a:solidFill>
                  <a:srgbClr val="0B3C49"/>
                </a:solidFill>
                <a:latin typeface="Calibri" pitchFamily="34" charset="0"/>
                <a:ea typeface="Calibri" pitchFamily="34" charset="-122"/>
                <a:cs typeface="Calibri" pitchFamily="34" charset="-120"/>
              </a:rPr>
              <a:t>x 2</a:t>
            </a:r>
            <a:endParaRPr lang="en-US" sz="1400" dirty="0"/>
          </a:p>
        </p:txBody>
      </p:sp>
      <p:sp>
        <p:nvSpPr>
          <p:cNvPr id="16" name="Shape 13"/>
          <p:cNvSpPr/>
          <p:nvPr/>
        </p:nvSpPr>
        <p:spPr>
          <a:xfrm>
            <a:off x="4754880" y="3108960"/>
            <a:ext cx="3931920" cy="502920"/>
          </a:xfrm>
          <a:prstGeom prst="roundRect">
            <a:avLst>
              <a:gd name="adj" fmla="val 10909"/>
            </a:avLst>
          </a:prstGeom>
          <a:solidFill>
            <a:srgbClr val="E8A33D"/>
          </a:solidFill>
          <a:ln w="12700">
            <a:solidFill>
              <a:srgbClr val="E8A33D"/>
            </a:solidFill>
            <a:prstDash val="solid"/>
          </a:ln>
        </p:spPr>
      </p:sp>
      <p:sp>
        <p:nvSpPr>
          <p:cNvPr id="17" name="Text 14"/>
          <p:cNvSpPr txBox="1"/>
          <p:nvPr/>
        </p:nvSpPr>
        <p:spPr>
          <a:xfrm>
            <a:off x="4937760" y="3108960"/>
            <a:ext cx="2560320" cy="50292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Annual retention savings</a:t>
            </a:r>
            <a:endParaRPr lang="en-US" sz="1300" dirty="0"/>
          </a:p>
        </p:txBody>
      </p:sp>
      <p:sp>
        <p:nvSpPr>
          <p:cNvPr id="18" name="Text 15"/>
          <p:cNvSpPr txBox="1"/>
          <p:nvPr/>
        </p:nvSpPr>
        <p:spPr>
          <a:xfrm>
            <a:off x="7406640" y="3108960"/>
            <a:ext cx="1143000" cy="502920"/>
          </a:xfrm>
          <a:prstGeom prst="rect">
            <a:avLst/>
          </a:prstGeom>
          <a:noFill/>
          <a:ln/>
        </p:spPr>
        <p:txBody>
          <a:bodyPr wrap="square" lIns="0" tIns="0" rIns="0" bIns="0" rtlCol="0" anchor="ctr"/>
          <a:lstStyle/>
          <a:p>
            <a:pPr algn="r" indent="0" marL="0">
              <a:buNone/>
            </a:pPr>
            <a:r>
              <a:rPr lang="en-US" sz="1400" b="1" dirty="0">
                <a:solidFill>
                  <a:srgbClr val="0B3C49"/>
                </a:solidFill>
                <a:latin typeface="Calibri" pitchFamily="34" charset="0"/>
                <a:ea typeface="Calibri" pitchFamily="34" charset="-122"/>
                <a:cs typeface="Calibri" pitchFamily="34" charset="-120"/>
              </a:rPr>
              <a:t>~$100K</a:t>
            </a:r>
            <a:endParaRPr lang="en-US" sz="1400" dirty="0"/>
          </a:p>
        </p:txBody>
      </p:sp>
      <p:sp>
        <p:nvSpPr>
          <p:cNvPr id="19" name="Text 16"/>
          <p:cNvSpPr txBox="1"/>
          <p:nvPr/>
        </p:nvSpPr>
        <p:spPr>
          <a:xfrm>
            <a:off x="4754880" y="3794760"/>
            <a:ext cx="3931920" cy="685800"/>
          </a:xfrm>
          <a:prstGeom prst="rect">
            <a:avLst/>
          </a:prstGeom>
          <a:noFill/>
          <a:ln/>
        </p:spPr>
        <p:txBody>
          <a:bodyPr wrap="square" lIns="0" tIns="0" rIns="0" bIns="0" rtlCol="0" anchor="ctr"/>
          <a:lstStyle/>
          <a:p>
            <a:pPr indent="0" marL="0">
              <a:buNone/>
            </a:pPr>
            <a:r>
              <a:rPr lang="en-US" sz="1150" i="1" dirty="0">
                <a:solidFill>
                  <a:srgbClr val="5B6770"/>
                </a:solidFill>
                <a:latin typeface="Calibri" pitchFamily="34" charset="0"/>
                <a:ea typeface="Calibri" pitchFamily="34" charset="-122"/>
                <a:cs typeface="Calibri" pitchFamily="34" charset="-120"/>
              </a:rPr>
              <a:t>Replacement cost covers recruiting, onboarding, and months of ramp-up. Plug in your own turnover numbers and the case only gets clearer.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More requests cleared, faster</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Better turnaround for members and providers, with headroom to grow</a:t>
            </a:r>
            <a:endParaRPr lang="en-US" sz="1400" dirty="0"/>
          </a:p>
        </p:txBody>
      </p:sp>
      <p:sp>
        <p:nvSpPr>
          <p:cNvPr id="4" name="Shape 2"/>
          <p:cNvSpPr/>
          <p:nvPr/>
        </p:nvSpPr>
        <p:spPr>
          <a:xfrm>
            <a:off x="457200" y="1371600"/>
            <a:ext cx="2606040" cy="2468880"/>
          </a:xfrm>
          <a:prstGeom prst="roundRect">
            <a:avLst>
              <a:gd name="adj" fmla="val 3704"/>
            </a:avLst>
          </a:prstGeom>
          <a:solidFill>
            <a:srgbClr val="FFFFFF"/>
          </a:solidFill>
          <a:ln w="12700">
            <a:solidFill>
              <a:srgbClr val="D5E4E2"/>
            </a:solidFill>
            <a:prstDash val="solid"/>
          </a:ln>
        </p:spPr>
      </p:sp>
      <p:sp>
        <p:nvSpPr>
          <p:cNvPr id="5" name="Shape 3"/>
          <p:cNvSpPr/>
          <p:nvPr/>
        </p:nvSpPr>
        <p:spPr>
          <a:xfrm>
            <a:off x="1417320" y="1554480"/>
            <a:ext cx="685800" cy="68580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1588770" y="1725930"/>
            <a:ext cx="342900" cy="342900"/>
          </a:xfrm>
          <a:prstGeom prst="rect">
            <a:avLst/>
          </a:prstGeom>
        </p:spPr>
      </p:pic>
      <p:sp>
        <p:nvSpPr>
          <p:cNvPr id="7" name="Text 4"/>
          <p:cNvSpPr txBox="1"/>
          <p:nvPr/>
        </p:nvSpPr>
        <p:spPr>
          <a:xfrm>
            <a:off x="457200" y="2331720"/>
            <a:ext cx="2606040" cy="640080"/>
          </a:xfrm>
          <a:prstGeom prst="rect">
            <a:avLst/>
          </a:prstGeom>
          <a:noFill/>
          <a:ln/>
        </p:spPr>
        <p:txBody>
          <a:bodyPr wrap="square" lIns="0" tIns="0" rIns="0" bIns="0" rtlCol="0" anchor="ctr"/>
          <a:lstStyle/>
          <a:p>
            <a:pPr algn="ctr" indent="0" marL="0">
              <a:buNone/>
            </a:pPr>
            <a:r>
              <a:rPr lang="en-US" sz="3200" b="1" dirty="0">
                <a:solidFill>
                  <a:srgbClr val="0B3C49"/>
                </a:solidFill>
                <a:latin typeface="Cambria" pitchFamily="34" charset="0"/>
                <a:ea typeface="Cambria" pitchFamily="34" charset="-122"/>
                <a:cs typeface="Cambria" pitchFamily="34" charset="-120"/>
              </a:rPr>
              <a:t>Seconds</a:t>
            </a:r>
            <a:endParaRPr lang="en-US" sz="3200" dirty="0"/>
          </a:p>
        </p:txBody>
      </p:sp>
      <p:sp>
        <p:nvSpPr>
          <p:cNvPr id="8" name="Text 5"/>
          <p:cNvSpPr txBox="1"/>
          <p:nvPr/>
        </p:nvSpPr>
        <p:spPr>
          <a:xfrm>
            <a:off x="640080" y="2971800"/>
            <a:ext cx="2240280"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for the AI first pass on each request</a:t>
            </a:r>
            <a:endParaRPr lang="en-US" sz="1300" dirty="0"/>
          </a:p>
        </p:txBody>
      </p:sp>
      <p:sp>
        <p:nvSpPr>
          <p:cNvPr id="9" name="Shape 6"/>
          <p:cNvSpPr/>
          <p:nvPr/>
        </p:nvSpPr>
        <p:spPr>
          <a:xfrm>
            <a:off x="3246120" y="1371600"/>
            <a:ext cx="2606040" cy="2468880"/>
          </a:xfrm>
          <a:prstGeom prst="roundRect">
            <a:avLst>
              <a:gd name="adj" fmla="val 3704"/>
            </a:avLst>
          </a:prstGeom>
          <a:solidFill>
            <a:srgbClr val="FFFFFF"/>
          </a:solidFill>
          <a:ln w="12700">
            <a:solidFill>
              <a:srgbClr val="D5E4E2"/>
            </a:solidFill>
            <a:prstDash val="solid"/>
          </a:ln>
        </p:spPr>
      </p:sp>
      <p:sp>
        <p:nvSpPr>
          <p:cNvPr id="10" name="Shape 7"/>
          <p:cNvSpPr/>
          <p:nvPr/>
        </p:nvSpPr>
        <p:spPr>
          <a:xfrm>
            <a:off x="4206240" y="1554480"/>
            <a:ext cx="685800" cy="68580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4377690" y="1725930"/>
            <a:ext cx="342900" cy="342900"/>
          </a:xfrm>
          <a:prstGeom prst="rect">
            <a:avLst/>
          </a:prstGeom>
        </p:spPr>
      </p:pic>
      <p:sp>
        <p:nvSpPr>
          <p:cNvPr id="12" name="Text 8"/>
          <p:cNvSpPr txBox="1"/>
          <p:nvPr/>
        </p:nvSpPr>
        <p:spPr>
          <a:xfrm>
            <a:off x="3246120" y="2331720"/>
            <a:ext cx="2606040" cy="640080"/>
          </a:xfrm>
          <a:prstGeom prst="rect">
            <a:avLst/>
          </a:prstGeom>
          <a:noFill/>
          <a:ln/>
        </p:spPr>
        <p:txBody>
          <a:bodyPr wrap="square" lIns="0" tIns="0" rIns="0" bIns="0" rtlCol="0" anchor="ctr"/>
          <a:lstStyle/>
          <a:p>
            <a:pPr algn="ctr" indent="0" marL="0">
              <a:buNone/>
            </a:pPr>
            <a:r>
              <a:rPr lang="en-US" sz="3200" b="1" dirty="0">
                <a:solidFill>
                  <a:srgbClr val="0B3C49"/>
                </a:solidFill>
                <a:latin typeface="Cambria" pitchFamily="34" charset="0"/>
                <a:ea typeface="Cambria" pitchFamily="34" charset="-122"/>
                <a:cs typeface="Cambria" pitchFamily="34" charset="-120"/>
              </a:rPr>
              <a:t>2.4x</a:t>
            </a:r>
            <a:endParaRPr lang="en-US" sz="3200" dirty="0"/>
          </a:p>
        </p:txBody>
      </p:sp>
      <p:sp>
        <p:nvSpPr>
          <p:cNvPr id="13" name="Text 9"/>
          <p:cNvSpPr txBox="1"/>
          <p:nvPr/>
        </p:nvSpPr>
        <p:spPr>
          <a:xfrm>
            <a:off x="3429000" y="2971800"/>
            <a:ext cx="2240280"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team capacity: ~1,200 requests/day at today's staffing</a:t>
            </a:r>
            <a:endParaRPr lang="en-US" sz="1300" dirty="0"/>
          </a:p>
        </p:txBody>
      </p:sp>
      <p:sp>
        <p:nvSpPr>
          <p:cNvPr id="14" name="Shape 10"/>
          <p:cNvSpPr/>
          <p:nvPr/>
        </p:nvSpPr>
        <p:spPr>
          <a:xfrm>
            <a:off x="6035040" y="1371600"/>
            <a:ext cx="2606040" cy="2468880"/>
          </a:xfrm>
          <a:prstGeom prst="roundRect">
            <a:avLst>
              <a:gd name="adj" fmla="val 3704"/>
            </a:avLst>
          </a:prstGeom>
          <a:solidFill>
            <a:srgbClr val="FFFFFF"/>
          </a:solidFill>
          <a:ln w="12700">
            <a:solidFill>
              <a:srgbClr val="D5E4E2"/>
            </a:solidFill>
            <a:prstDash val="solid"/>
          </a:ln>
        </p:spPr>
      </p:sp>
      <p:sp>
        <p:nvSpPr>
          <p:cNvPr id="15" name="Shape 11"/>
          <p:cNvSpPr/>
          <p:nvPr/>
        </p:nvSpPr>
        <p:spPr>
          <a:xfrm>
            <a:off x="6995160" y="1554480"/>
            <a:ext cx="685800" cy="685800"/>
          </a:xfrm>
          <a:prstGeom prst="ellipse">
            <a:avLst/>
          </a:prstGeom>
          <a:solidFill>
            <a:srgbClr val="E8A33D"/>
          </a:solidFill>
          <a:ln w="12700">
            <a:solidFill>
              <a:srgbClr val="E8A33D"/>
            </a:solidFill>
            <a:prstDash val="solid"/>
          </a:ln>
        </p:spPr>
      </p:sp>
      <p:pic>
        <p:nvPicPr>
          <p:cNvPr id="16" name="Image 2" descr="preencoded.png">    </p:cNvPr>
          <p:cNvPicPr>
            <a:picLocks noChangeAspect="1"/>
          </p:cNvPicPr>
          <p:nvPr/>
        </p:nvPicPr>
        <p:blipFill>
          <a:blip r:embed="rId3"/>
          <a:stretch>
            <a:fillRect/>
          </a:stretch>
        </p:blipFill>
        <p:spPr>
          <a:xfrm>
            <a:off x="7166610" y="1725930"/>
            <a:ext cx="342900" cy="342900"/>
          </a:xfrm>
          <a:prstGeom prst="rect">
            <a:avLst/>
          </a:prstGeom>
        </p:spPr>
      </p:pic>
      <p:sp>
        <p:nvSpPr>
          <p:cNvPr id="17" name="Text 12"/>
          <p:cNvSpPr txBox="1"/>
          <p:nvPr/>
        </p:nvSpPr>
        <p:spPr>
          <a:xfrm>
            <a:off x="6035040" y="2331720"/>
            <a:ext cx="2606040" cy="640080"/>
          </a:xfrm>
          <a:prstGeom prst="rect">
            <a:avLst/>
          </a:prstGeom>
          <a:noFill/>
          <a:ln/>
        </p:spPr>
        <p:txBody>
          <a:bodyPr wrap="square" lIns="0" tIns="0" rIns="0" bIns="0" rtlCol="0" anchor="ctr"/>
          <a:lstStyle/>
          <a:p>
            <a:pPr algn="ctr" indent="0" marL="0">
              <a:buNone/>
            </a:pPr>
            <a:r>
              <a:rPr lang="en-US" sz="3200" b="1" dirty="0">
                <a:solidFill>
                  <a:srgbClr val="0B3C49"/>
                </a:solidFill>
                <a:latin typeface="Cambria" pitchFamily="34" charset="0"/>
                <a:ea typeface="Cambria" pitchFamily="34" charset="-122"/>
                <a:cs typeface="Cambria" pitchFamily="34" charset="-120"/>
              </a:rPr>
              <a:t>Instant</a:t>
            </a:r>
            <a:endParaRPr lang="en-US" sz="3200" dirty="0"/>
          </a:p>
        </p:txBody>
      </p:sp>
      <p:sp>
        <p:nvSpPr>
          <p:cNvPr id="18" name="Text 13"/>
          <p:cNvSpPr txBox="1"/>
          <p:nvPr/>
        </p:nvSpPr>
        <p:spPr>
          <a:xfrm>
            <a:off x="6217920" y="2971800"/>
            <a:ext cx="2240280" cy="731520"/>
          </a:xfrm>
          <a:prstGeom prst="rect">
            <a:avLst/>
          </a:prstGeom>
          <a:noFill/>
          <a:ln/>
        </p:spPr>
        <p:txBody>
          <a:bodyPr wrap="square" lIns="0" tIns="0" rIns="0" bIns="0" rtlCol="0" anchor="t"/>
          <a:lstStyle/>
          <a:p>
            <a:pPr algn="ctr" indent="0" marL="0">
              <a:buNone/>
            </a:pPr>
            <a:r>
              <a:rPr lang="en-US" sz="1300" dirty="0">
                <a:solidFill>
                  <a:srgbClr val="5B6770"/>
                </a:solidFill>
                <a:latin typeface="Calibri" pitchFamily="34" charset="0"/>
                <a:ea typeface="Calibri" pitchFamily="34" charset="-122"/>
                <a:cs typeface="Calibri" pitchFamily="34" charset="-120"/>
              </a:rPr>
              <a:t>urgent flags surface emergent cases for immediate review</a:t>
            </a:r>
            <a:endParaRPr lang="en-US" sz="1300" dirty="0"/>
          </a:p>
        </p:txBody>
      </p:sp>
      <p:sp>
        <p:nvSpPr>
          <p:cNvPr id="19" name="Text 14"/>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1300" i="1" dirty="0">
                <a:solidFill>
                  <a:srgbClr val="0B3C49"/>
                </a:solidFill>
                <a:latin typeface="Calibri" pitchFamily="34" charset="0"/>
                <a:ea typeface="Calibri" pitchFamily="34" charset="-122"/>
                <a:cs typeface="Calibri" pitchFamily="34" charset="-120"/>
              </a:rPr>
              <a:t>Faster, consistent, well-documented decisions mean fewer provider calls, fewer appeals driven by unclear reasoning, and comfortable margin on regulatory deadlines.</a:t>
            </a:r>
            <a:endParaRPr lang="en-US" sz="1300" dirty="0"/>
          </a:p>
        </p:txBody>
      </p:sp>
      <p:sp>
        <p:nvSpPr>
          <p:cNvPr id="20" name="Text 1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900" i="1" dirty="0">
                <a:solidFill>
                  <a:srgbClr val="5B6770"/>
                </a:solidFill>
                <a:latin typeface="Calibri" pitchFamily="34" charset="0"/>
                <a:ea typeface="Calibri" pitchFamily="34" charset="-122"/>
                <a:cs typeface="Calibri" pitchFamily="34" charset="-120"/>
              </a:rPr>
              <a:t>Capacity: 480 min per shift / ~4 min per request = ~120 requests per nurse x 10 nurses.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3C49"/>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bottom line</a:t>
            </a:r>
            <a:endParaRPr lang="en-US" sz="3400" dirty="0"/>
          </a:p>
        </p:txBody>
      </p:sp>
      <p:sp>
        <p:nvSpPr>
          <p:cNvPr id="3" name="Shape 1"/>
          <p:cNvSpPr/>
          <p:nvPr/>
        </p:nvSpPr>
        <p:spPr>
          <a:xfrm>
            <a:off x="457200" y="1371600"/>
            <a:ext cx="1920240" cy="2011680"/>
          </a:xfrm>
          <a:prstGeom prst="roundRect">
            <a:avLst>
              <a:gd name="adj" fmla="val 4762"/>
            </a:avLst>
          </a:prstGeom>
          <a:solidFill>
            <a:srgbClr val="134E5E"/>
          </a:solidFill>
          <a:ln w="12700">
            <a:solidFill>
              <a:srgbClr val="134E5E"/>
            </a:solidFill>
            <a:prstDash val="solid"/>
          </a:ln>
        </p:spPr>
      </p:sp>
      <p:sp>
        <p:nvSpPr>
          <p:cNvPr id="4" name="Text 2"/>
          <p:cNvSpPr txBox="1"/>
          <p:nvPr/>
        </p:nvSpPr>
        <p:spPr>
          <a:xfrm>
            <a:off x="457200" y="1645920"/>
            <a:ext cx="192024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~11,700</a:t>
            </a:r>
            <a:endParaRPr lang="en-US" sz="3000" dirty="0"/>
          </a:p>
        </p:txBody>
      </p:sp>
      <p:sp>
        <p:nvSpPr>
          <p:cNvPr id="5" name="Text 3"/>
          <p:cNvSpPr txBox="1"/>
          <p:nvPr/>
        </p:nvSpPr>
        <p:spPr>
          <a:xfrm>
            <a:off x="594360" y="2468880"/>
            <a:ext cx="1645920" cy="731520"/>
          </a:xfrm>
          <a:prstGeom prst="rect">
            <a:avLst/>
          </a:prstGeom>
          <a:noFill/>
          <a:ln/>
        </p:spPr>
        <p:txBody>
          <a:bodyPr wrap="square" lIns="0" tIns="0" rIns="0" bIns="0" rtlCol="0" anchor="t"/>
          <a:lstStyle/>
          <a:p>
            <a:pPr algn="ctr" indent="0" marL="0">
              <a:buNone/>
            </a:pPr>
            <a:r>
              <a:rPr lang="en-US" sz="1300" dirty="0">
                <a:solidFill>
                  <a:srgbClr val="CFE8E5"/>
                </a:solidFill>
                <a:latin typeface="Calibri" pitchFamily="34" charset="0"/>
                <a:ea typeface="Calibri" pitchFamily="34" charset="-122"/>
                <a:cs typeface="Calibri" pitchFamily="34" charset="-120"/>
              </a:rPr>
              <a:t>nurse-hours returned per year</a:t>
            </a:r>
            <a:endParaRPr lang="en-US" sz="1300" dirty="0"/>
          </a:p>
        </p:txBody>
      </p:sp>
      <p:sp>
        <p:nvSpPr>
          <p:cNvPr id="6" name="Shape 4"/>
          <p:cNvSpPr/>
          <p:nvPr/>
        </p:nvSpPr>
        <p:spPr>
          <a:xfrm>
            <a:off x="2560320" y="1371600"/>
            <a:ext cx="1920240" cy="2011680"/>
          </a:xfrm>
          <a:prstGeom prst="roundRect">
            <a:avLst>
              <a:gd name="adj" fmla="val 4762"/>
            </a:avLst>
          </a:prstGeom>
          <a:solidFill>
            <a:srgbClr val="134E5E"/>
          </a:solidFill>
          <a:ln w="12700">
            <a:solidFill>
              <a:srgbClr val="134E5E"/>
            </a:solidFill>
            <a:prstDash val="solid"/>
          </a:ln>
        </p:spPr>
      </p:sp>
      <p:sp>
        <p:nvSpPr>
          <p:cNvPr id="7" name="Text 5"/>
          <p:cNvSpPr txBox="1"/>
          <p:nvPr/>
        </p:nvSpPr>
        <p:spPr>
          <a:xfrm>
            <a:off x="2560320" y="1645920"/>
            <a:ext cx="1920240" cy="731520"/>
          </a:xfrm>
          <a:prstGeom prst="rect">
            <a:avLst/>
          </a:prstGeom>
          <a:noFill/>
          <a:ln/>
        </p:spPr>
        <p:txBody>
          <a:bodyPr wrap="square" lIns="0" tIns="0" rIns="0" bIns="0" rtlCol="0" anchor="ctr"/>
          <a:lstStyle/>
          <a:p>
            <a:pPr algn="ctr" indent="0" marL="0">
              <a:buNone/>
            </a:pPr>
            <a:r>
              <a:rPr lang="en-US" sz="3000" b="1" dirty="0">
                <a:solidFill>
                  <a:srgbClr val="E8A33D"/>
                </a:solidFill>
                <a:latin typeface="Cambria" pitchFamily="34" charset="0"/>
                <a:ea typeface="Cambria" pitchFamily="34" charset="-122"/>
                <a:cs typeface="Cambria" pitchFamily="34" charset="-120"/>
              </a:rPr>
              <a:t>~$617K</a:t>
            </a:r>
            <a:endParaRPr lang="en-US" sz="3000" dirty="0"/>
          </a:p>
        </p:txBody>
      </p:sp>
      <p:sp>
        <p:nvSpPr>
          <p:cNvPr id="8" name="Text 6"/>
          <p:cNvSpPr txBox="1"/>
          <p:nvPr/>
        </p:nvSpPr>
        <p:spPr>
          <a:xfrm>
            <a:off x="2697480" y="2468880"/>
            <a:ext cx="1645920" cy="731520"/>
          </a:xfrm>
          <a:prstGeom prst="rect">
            <a:avLst/>
          </a:prstGeom>
          <a:noFill/>
          <a:ln/>
        </p:spPr>
        <p:txBody>
          <a:bodyPr wrap="square" lIns="0" tIns="0" rIns="0" bIns="0" rtlCol="0" anchor="t"/>
          <a:lstStyle/>
          <a:p>
            <a:pPr algn="ctr" indent="0" marL="0">
              <a:buNone/>
            </a:pPr>
            <a:r>
              <a:rPr lang="en-US" sz="1300" dirty="0">
                <a:solidFill>
                  <a:srgbClr val="CFE8E5"/>
                </a:solidFill>
                <a:latin typeface="Calibri" pitchFamily="34" charset="0"/>
                <a:ea typeface="Calibri" pitchFamily="34" charset="-122"/>
                <a:cs typeface="Calibri" pitchFamily="34" charset="-120"/>
              </a:rPr>
              <a:t>annual capacity value</a:t>
            </a:r>
            <a:endParaRPr lang="en-US" sz="1300" dirty="0"/>
          </a:p>
        </p:txBody>
      </p:sp>
      <p:sp>
        <p:nvSpPr>
          <p:cNvPr id="9" name="Shape 7"/>
          <p:cNvSpPr/>
          <p:nvPr/>
        </p:nvSpPr>
        <p:spPr>
          <a:xfrm>
            <a:off x="4663440" y="1371600"/>
            <a:ext cx="1920240" cy="2011680"/>
          </a:xfrm>
          <a:prstGeom prst="roundRect">
            <a:avLst>
              <a:gd name="adj" fmla="val 4762"/>
            </a:avLst>
          </a:prstGeom>
          <a:solidFill>
            <a:srgbClr val="134E5E"/>
          </a:solidFill>
          <a:ln w="12700">
            <a:solidFill>
              <a:srgbClr val="134E5E"/>
            </a:solidFill>
            <a:prstDash val="solid"/>
          </a:ln>
        </p:spPr>
      </p:sp>
      <p:sp>
        <p:nvSpPr>
          <p:cNvPr id="10" name="Text 8"/>
          <p:cNvSpPr txBox="1"/>
          <p:nvPr/>
        </p:nvSpPr>
        <p:spPr>
          <a:xfrm>
            <a:off x="4663440" y="1645920"/>
            <a:ext cx="192024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~$100K</a:t>
            </a:r>
            <a:endParaRPr lang="en-US" sz="3000" dirty="0"/>
          </a:p>
        </p:txBody>
      </p:sp>
      <p:sp>
        <p:nvSpPr>
          <p:cNvPr id="11" name="Text 9"/>
          <p:cNvSpPr txBox="1"/>
          <p:nvPr/>
        </p:nvSpPr>
        <p:spPr>
          <a:xfrm>
            <a:off x="4800600" y="2468880"/>
            <a:ext cx="1645920" cy="731520"/>
          </a:xfrm>
          <a:prstGeom prst="rect">
            <a:avLst/>
          </a:prstGeom>
          <a:noFill/>
          <a:ln/>
        </p:spPr>
        <p:txBody>
          <a:bodyPr wrap="square" lIns="0" tIns="0" rIns="0" bIns="0" rtlCol="0" anchor="t"/>
          <a:lstStyle/>
          <a:p>
            <a:pPr algn="ctr" indent="0" marL="0">
              <a:buNone/>
            </a:pPr>
            <a:r>
              <a:rPr lang="en-US" sz="1300" dirty="0">
                <a:solidFill>
                  <a:srgbClr val="CFE8E5"/>
                </a:solidFill>
                <a:latin typeface="Calibri" pitchFamily="34" charset="0"/>
                <a:ea typeface="Calibri" pitchFamily="34" charset="-122"/>
                <a:cs typeface="Calibri" pitchFamily="34" charset="-120"/>
              </a:rPr>
              <a:t>illustrative retention savings</a:t>
            </a:r>
            <a:endParaRPr lang="en-US" sz="1300" dirty="0"/>
          </a:p>
        </p:txBody>
      </p:sp>
      <p:sp>
        <p:nvSpPr>
          <p:cNvPr id="12" name="Shape 10"/>
          <p:cNvSpPr/>
          <p:nvPr/>
        </p:nvSpPr>
        <p:spPr>
          <a:xfrm>
            <a:off x="6766560" y="1371600"/>
            <a:ext cx="1920240" cy="2011680"/>
          </a:xfrm>
          <a:prstGeom prst="roundRect">
            <a:avLst>
              <a:gd name="adj" fmla="val 4762"/>
            </a:avLst>
          </a:prstGeom>
          <a:solidFill>
            <a:srgbClr val="134E5E"/>
          </a:solidFill>
          <a:ln w="12700">
            <a:solidFill>
              <a:srgbClr val="134E5E"/>
            </a:solidFill>
            <a:prstDash val="solid"/>
          </a:ln>
        </p:spPr>
      </p:sp>
      <p:sp>
        <p:nvSpPr>
          <p:cNvPr id="13" name="Text 11"/>
          <p:cNvSpPr txBox="1"/>
          <p:nvPr/>
        </p:nvSpPr>
        <p:spPr>
          <a:xfrm>
            <a:off x="6766560" y="1645920"/>
            <a:ext cx="192024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2.4x</a:t>
            </a:r>
            <a:endParaRPr lang="en-US" sz="3000" dirty="0"/>
          </a:p>
        </p:txBody>
      </p:sp>
      <p:sp>
        <p:nvSpPr>
          <p:cNvPr id="14" name="Text 12"/>
          <p:cNvSpPr txBox="1"/>
          <p:nvPr/>
        </p:nvSpPr>
        <p:spPr>
          <a:xfrm>
            <a:off x="6903720" y="2468880"/>
            <a:ext cx="1645920" cy="731520"/>
          </a:xfrm>
          <a:prstGeom prst="rect">
            <a:avLst/>
          </a:prstGeom>
          <a:noFill/>
          <a:ln/>
        </p:spPr>
        <p:txBody>
          <a:bodyPr wrap="square" lIns="0" tIns="0" rIns="0" bIns="0" rtlCol="0" anchor="t"/>
          <a:lstStyle/>
          <a:p>
            <a:pPr algn="ctr" indent="0" marL="0">
              <a:buNone/>
            </a:pPr>
            <a:r>
              <a:rPr lang="en-US" sz="1300" dirty="0">
                <a:solidFill>
                  <a:srgbClr val="CFE8E5"/>
                </a:solidFill>
                <a:latin typeface="Calibri" pitchFamily="34" charset="0"/>
                <a:ea typeface="Calibri" pitchFamily="34" charset="-122"/>
                <a:cs typeface="Calibri" pitchFamily="34" charset="-120"/>
              </a:rPr>
              <a:t>review capacity, same team</a:t>
            </a:r>
            <a:endParaRPr lang="en-US" sz="1300" dirty="0"/>
          </a:p>
        </p:txBody>
      </p:sp>
      <p:sp>
        <p:nvSpPr>
          <p:cNvPr id="15" name="Text 13"/>
          <p:cNvSpPr txBox="1"/>
          <p:nvPr/>
        </p:nvSpPr>
        <p:spPr>
          <a:xfrm>
            <a:off x="457200" y="3749040"/>
            <a:ext cx="8229600" cy="457200"/>
          </a:xfrm>
          <a:prstGeom prst="rect">
            <a:avLst/>
          </a:prstGeom>
          <a:noFill/>
          <a:ln/>
        </p:spPr>
        <p:txBody>
          <a:bodyPr wrap="square" lIns="0" tIns="0" rIns="0" bIns="0"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Over $700K in annual value, with your nurses signing off on every decision.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A low-risk path: 90-day pilot</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400" dirty="0">
                <a:solidFill>
                  <a:srgbClr val="5B6770"/>
                </a:solidFill>
                <a:latin typeface="Calibri" pitchFamily="34" charset="0"/>
                <a:ea typeface="Calibri" pitchFamily="34" charset="-122"/>
                <a:cs typeface="Calibri" pitchFamily="34" charset="-120"/>
              </a:rPr>
              <a:t>Prove the numbers on your own policies and your own cases</a:t>
            </a:r>
            <a:endParaRPr lang="en-US" sz="1400" dirty="0"/>
          </a:p>
        </p:txBody>
      </p:sp>
      <p:sp>
        <p:nvSpPr>
          <p:cNvPr id="4" name="Shape 2"/>
          <p:cNvSpPr/>
          <p:nvPr/>
        </p:nvSpPr>
        <p:spPr>
          <a:xfrm>
            <a:off x="457200" y="1371600"/>
            <a:ext cx="457200" cy="457200"/>
          </a:xfrm>
          <a:prstGeom prst="ellipse">
            <a:avLst/>
          </a:prstGeom>
          <a:solidFill>
            <a:srgbClr val="0E7C7B"/>
          </a:solidFill>
          <a:ln w="12700">
            <a:solidFill>
              <a:srgbClr val="0E7C7B"/>
            </a:solidFill>
            <a:prstDash val="solid"/>
          </a:ln>
        </p:spPr>
      </p:sp>
      <p:sp>
        <p:nvSpPr>
          <p:cNvPr id="5" name="Text 3"/>
          <p:cNvSpPr txBox="1"/>
          <p:nvPr/>
        </p:nvSpPr>
        <p:spPr>
          <a:xfrm>
            <a:off x="45720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051560" y="1371600"/>
            <a:ext cx="2011680" cy="22860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Weeks 1-3</a:t>
            </a:r>
            <a:endParaRPr lang="en-US" sz="1100" dirty="0"/>
          </a:p>
        </p:txBody>
      </p:sp>
      <p:sp>
        <p:nvSpPr>
          <p:cNvPr id="7" name="Text 5"/>
          <p:cNvSpPr txBox="1"/>
          <p:nvPr/>
        </p:nvSpPr>
        <p:spPr>
          <a:xfrm>
            <a:off x="1051560" y="1600200"/>
            <a:ext cx="2011680" cy="27432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Configure</a:t>
            </a:r>
            <a:endParaRPr lang="en-US" sz="1500" dirty="0"/>
          </a:p>
        </p:txBody>
      </p:sp>
      <p:sp>
        <p:nvSpPr>
          <p:cNvPr id="8" name="Text 6"/>
          <p:cNvSpPr txBox="1"/>
          <p:nvPr/>
        </p:nvSpPr>
        <p:spPr>
          <a:xfrm>
            <a:off x="457200" y="2011680"/>
            <a:ext cx="2560320" cy="91440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Load your coverage policies. Run on historical cases and measure agreement with past nurse decisions.</a:t>
            </a:r>
            <a:endParaRPr lang="en-US" sz="1200" dirty="0"/>
          </a:p>
        </p:txBody>
      </p:sp>
      <p:sp>
        <p:nvSpPr>
          <p:cNvPr id="9" name="Shape 7"/>
          <p:cNvSpPr/>
          <p:nvPr/>
        </p:nvSpPr>
        <p:spPr>
          <a:xfrm>
            <a:off x="3246120" y="1371600"/>
            <a:ext cx="457200" cy="457200"/>
          </a:xfrm>
          <a:prstGeom prst="ellipse">
            <a:avLst/>
          </a:prstGeom>
          <a:solidFill>
            <a:srgbClr val="0E7C7B"/>
          </a:solidFill>
          <a:ln w="12700">
            <a:solidFill>
              <a:srgbClr val="0E7C7B"/>
            </a:solidFill>
            <a:prstDash val="solid"/>
          </a:ln>
        </p:spPr>
      </p:sp>
      <p:sp>
        <p:nvSpPr>
          <p:cNvPr id="10" name="Text 8"/>
          <p:cNvSpPr txBox="1"/>
          <p:nvPr/>
        </p:nvSpPr>
        <p:spPr>
          <a:xfrm>
            <a:off x="324612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3840480" y="1371600"/>
            <a:ext cx="2011680" cy="22860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Weeks 4-8</a:t>
            </a:r>
            <a:endParaRPr lang="en-US" sz="1100" dirty="0"/>
          </a:p>
        </p:txBody>
      </p:sp>
      <p:sp>
        <p:nvSpPr>
          <p:cNvPr id="12" name="Text 10"/>
          <p:cNvSpPr txBox="1"/>
          <p:nvPr/>
        </p:nvSpPr>
        <p:spPr>
          <a:xfrm>
            <a:off x="3840480" y="1600200"/>
            <a:ext cx="2011680" cy="27432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Shadow mode</a:t>
            </a:r>
            <a:endParaRPr lang="en-US" sz="1500" dirty="0"/>
          </a:p>
        </p:txBody>
      </p:sp>
      <p:sp>
        <p:nvSpPr>
          <p:cNvPr id="13" name="Text 11"/>
          <p:cNvSpPr txBox="1"/>
          <p:nvPr/>
        </p:nvSpPr>
        <p:spPr>
          <a:xfrm>
            <a:off x="3246120" y="2011680"/>
            <a:ext cx="2560320" cy="91440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Nurses review as usual while CitedAuth runs alongside. Track accuracy and real verification time.</a:t>
            </a:r>
            <a:endParaRPr lang="en-US" sz="1200" dirty="0"/>
          </a:p>
        </p:txBody>
      </p:sp>
      <p:sp>
        <p:nvSpPr>
          <p:cNvPr id="14" name="Shape 12"/>
          <p:cNvSpPr/>
          <p:nvPr/>
        </p:nvSpPr>
        <p:spPr>
          <a:xfrm>
            <a:off x="6035040" y="1371600"/>
            <a:ext cx="457200" cy="457200"/>
          </a:xfrm>
          <a:prstGeom prst="ellipse">
            <a:avLst/>
          </a:prstGeom>
          <a:solidFill>
            <a:srgbClr val="0E7C7B"/>
          </a:solidFill>
          <a:ln w="12700">
            <a:solidFill>
              <a:srgbClr val="0E7C7B"/>
            </a:solidFill>
            <a:prstDash val="solid"/>
          </a:ln>
        </p:spPr>
      </p:sp>
      <p:sp>
        <p:nvSpPr>
          <p:cNvPr id="15" name="Text 13"/>
          <p:cNvSpPr txBox="1"/>
          <p:nvPr/>
        </p:nvSpPr>
        <p:spPr>
          <a:xfrm>
            <a:off x="6035040" y="1371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6629400" y="1371600"/>
            <a:ext cx="2011680" cy="228600"/>
          </a:xfrm>
          <a:prstGeom prst="rect">
            <a:avLst/>
          </a:prstGeom>
          <a:noFill/>
          <a:ln/>
        </p:spPr>
        <p:txBody>
          <a:bodyPr wrap="square" lIns="0" tIns="0" rIns="0" bIns="0" rtlCol="0" anchor="ctr"/>
          <a:lstStyle/>
          <a:p>
            <a:pPr indent="0" marL="0">
              <a:buNone/>
            </a:pPr>
            <a:r>
              <a:rPr lang="en-US" sz="1100" b="1" dirty="0">
                <a:solidFill>
                  <a:srgbClr val="0E7C7B"/>
                </a:solidFill>
                <a:latin typeface="Calibri" pitchFamily="34" charset="0"/>
                <a:ea typeface="Calibri" pitchFamily="34" charset="-122"/>
                <a:cs typeface="Calibri" pitchFamily="34" charset="-120"/>
              </a:rPr>
              <a:t>Weeks 9-12</a:t>
            </a:r>
            <a:endParaRPr lang="en-US" sz="1100" dirty="0"/>
          </a:p>
        </p:txBody>
      </p:sp>
      <p:sp>
        <p:nvSpPr>
          <p:cNvPr id="17" name="Text 15"/>
          <p:cNvSpPr txBox="1"/>
          <p:nvPr/>
        </p:nvSpPr>
        <p:spPr>
          <a:xfrm>
            <a:off x="6629400" y="1600200"/>
            <a:ext cx="2011680" cy="274320"/>
          </a:xfrm>
          <a:prstGeom prst="rect">
            <a:avLst/>
          </a:prstGeom>
          <a:noFill/>
          <a:ln/>
        </p:spPr>
        <p:txBody>
          <a:bodyPr wrap="square" lIns="0" tIns="0" rIns="0" bIns="0" rtlCol="0" anchor="ctr"/>
          <a:lstStyle/>
          <a:p>
            <a:pPr indent="0" marL="0">
              <a:buNone/>
            </a:pPr>
            <a:r>
              <a:rPr lang="en-US" sz="1500" b="1" dirty="0">
                <a:solidFill>
                  <a:srgbClr val="0B3C49"/>
                </a:solidFill>
                <a:latin typeface="Cambria" pitchFamily="34" charset="0"/>
                <a:ea typeface="Cambria" pitchFamily="34" charset="-122"/>
                <a:cs typeface="Cambria" pitchFamily="34" charset="-120"/>
              </a:rPr>
              <a:t>Go live</a:t>
            </a:r>
            <a:endParaRPr lang="en-US" sz="1500" dirty="0"/>
          </a:p>
        </p:txBody>
      </p:sp>
      <p:sp>
        <p:nvSpPr>
          <p:cNvPr id="18" name="Text 16"/>
          <p:cNvSpPr txBox="1"/>
          <p:nvPr/>
        </p:nvSpPr>
        <p:spPr>
          <a:xfrm>
            <a:off x="6035040" y="2011680"/>
            <a:ext cx="2560320" cy="914400"/>
          </a:xfrm>
          <a:prstGeom prst="rect">
            <a:avLst/>
          </a:prstGeom>
          <a:noFill/>
          <a:ln/>
        </p:spPr>
        <p:txBody>
          <a:bodyPr wrap="square" lIns="0" tIns="0" rIns="0" bIns="0" rtlCol="0" anchor="t"/>
          <a:lstStyle/>
          <a:p>
            <a:pPr indent="0" marL="0">
              <a:buNone/>
            </a:pPr>
            <a:r>
              <a:rPr lang="en-US" sz="1200" dirty="0">
                <a:solidFill>
                  <a:srgbClr val="5B6770"/>
                </a:solidFill>
                <a:latin typeface="Calibri" pitchFamily="34" charset="0"/>
                <a:ea typeface="Calibri" pitchFamily="34" charset="-122"/>
                <a:cs typeface="Calibri" pitchFamily="34" charset="-120"/>
              </a:rPr>
              <a:t>Nurses work from AI-prepared, cited recommendations with sign-off on every case.</a:t>
            </a:r>
            <a:endParaRPr lang="en-US" sz="1200" dirty="0"/>
          </a:p>
        </p:txBody>
      </p:sp>
      <p:sp>
        <p:nvSpPr>
          <p:cNvPr id="19" name="Shape 17"/>
          <p:cNvSpPr/>
          <p:nvPr/>
        </p:nvSpPr>
        <p:spPr>
          <a:xfrm>
            <a:off x="457200" y="3108960"/>
            <a:ext cx="8229600" cy="1417320"/>
          </a:xfrm>
          <a:prstGeom prst="roundRect">
            <a:avLst>
              <a:gd name="adj" fmla="val 6452"/>
            </a:avLst>
          </a:prstGeom>
          <a:solidFill>
            <a:srgbClr val="E6F4F1"/>
          </a:solidFill>
          <a:ln w="12700">
            <a:solidFill>
              <a:srgbClr val="E6F4F1"/>
            </a:solidFill>
            <a:prstDash val="solid"/>
          </a:ln>
        </p:spPr>
      </p:sp>
      <p:sp>
        <p:nvSpPr>
          <p:cNvPr id="20" name="Text 18"/>
          <p:cNvSpPr txBox="1"/>
          <p:nvPr/>
        </p:nvSpPr>
        <p:spPr>
          <a:xfrm>
            <a:off x="685800" y="3200400"/>
            <a:ext cx="7772400" cy="320040"/>
          </a:xfrm>
          <a:prstGeom prst="rect">
            <a:avLst/>
          </a:prstGeom>
          <a:noFill/>
          <a:ln/>
        </p:spPr>
        <p:txBody>
          <a:bodyPr wrap="square" lIns="0" tIns="0" rIns="0" bIns="0" rtlCol="0" anchor="ctr"/>
          <a:lstStyle/>
          <a:p>
            <a:pPr indent="0" marL="0">
              <a:buNone/>
            </a:pPr>
            <a:r>
              <a:rPr lang="en-US" sz="1400" b="1" dirty="0">
                <a:solidFill>
                  <a:srgbClr val="0B3C49"/>
                </a:solidFill>
                <a:latin typeface="Cambria" pitchFamily="34" charset="0"/>
                <a:ea typeface="Cambria" pitchFamily="34" charset="-122"/>
                <a:cs typeface="Cambria" pitchFamily="34" charset="-120"/>
              </a:rPr>
              <a:t>Enterprise hardening on the roadmap</a:t>
            </a:r>
            <a:endParaRPr lang="en-US" sz="1400" dirty="0"/>
          </a:p>
        </p:txBody>
      </p:sp>
      <p:sp>
        <p:nvSpPr>
          <p:cNvPr id="21" name="Text 19"/>
          <p:cNvSpPr txBox="1"/>
          <p:nvPr/>
        </p:nvSpPr>
        <p:spPr>
          <a:xfrm>
            <a:off x="685800" y="3520440"/>
            <a:ext cx="7772400" cy="960120"/>
          </a:xfrm>
          <a:prstGeom prst="rect">
            <a:avLst/>
          </a:prstGeom>
          <a:noFill/>
          <a:ln/>
        </p:spPr>
        <p:txBody>
          <a:bodyPr wrap="square" rtlCol="0" anchor="t"/>
          <a:lstStyle/>
          <a:p>
            <a:pPr marL="342900" indent="-342900">
              <a:spcAft>
                <a:spcPts val="200"/>
              </a:spcAft>
              <a:buSzPct val="100000"/>
              <a:buChar char="•"/>
            </a:pPr>
            <a:r>
              <a:rPr lang="en-US" sz="1200" dirty="0">
                <a:solidFill>
                  <a:srgbClr val="0B3C49"/>
                </a:solidFill>
                <a:latin typeface="Calibri" pitchFamily="34" charset="0"/>
                <a:ea typeface="Calibri" pitchFamily="34" charset="-122"/>
                <a:cs typeface="Calibri" pitchFamily="34" charset="-120"/>
              </a:rPr>
              <a:t>Nurse edit and override before any letter is sent</a:t>
            </a:r>
            <a:endParaRPr lang="en-US" sz="1200" dirty="0"/>
          </a:p>
          <a:p>
            <a:pPr marL="342900" indent="-342900">
              <a:spcAft>
                <a:spcPts val="200"/>
              </a:spcAft>
              <a:buSzPct val="100000"/>
              <a:buChar char="•"/>
            </a:pPr>
            <a:r>
              <a:rPr lang="en-US" sz="1200" dirty="0">
                <a:solidFill>
                  <a:srgbClr val="0B3C49"/>
                </a:solidFill>
                <a:latin typeface="Calibri" pitchFamily="34" charset="0"/>
                <a:ea typeface="Calibri" pitchFamily="34" charset="-122"/>
                <a:cs typeface="Calibri" pitchFamily="34" charset="-120"/>
              </a:rPr>
              <a:t>Automated guardrail check as a second safety net</a:t>
            </a:r>
            <a:endParaRPr lang="en-US" sz="1200" dirty="0"/>
          </a:p>
          <a:p>
            <a:pPr marL="342900" indent="-342900">
              <a:spcAft>
                <a:spcPts val="200"/>
              </a:spcAft>
              <a:buSzPct val="100000"/>
              <a:buChar char="•"/>
            </a:pPr>
            <a:r>
              <a:rPr lang="en-US" sz="1200" dirty="0">
                <a:solidFill>
                  <a:srgbClr val="0B3C49"/>
                </a:solidFill>
                <a:latin typeface="Calibri" pitchFamily="34" charset="0"/>
                <a:ea typeface="Calibri" pitchFamily="34" charset="-122"/>
                <a:cs typeface="Calibri" pitchFamily="34" charset="-120"/>
              </a:rPr>
              <a:t>Secure login, multi-user access, and full audit trail</a:t>
            </a:r>
            <a:endParaRPr lang="en-US" sz="1200" dirty="0"/>
          </a:p>
          <a:p>
            <a:pPr marL="342900" indent="-342900">
              <a:spcAft>
                <a:spcPts val="200"/>
              </a:spcAft>
              <a:buSzPct val="100000"/>
              <a:buChar char="•"/>
            </a:pPr>
            <a:r>
              <a:rPr lang="en-US" sz="1200" dirty="0">
                <a:solidFill>
                  <a:srgbClr val="0B3C49"/>
                </a:solidFill>
                <a:latin typeface="Calibri" pitchFamily="34" charset="0"/>
                <a:ea typeface="Calibri" pitchFamily="34" charset="-122"/>
                <a:cs typeface="Calibri" pitchFamily="34" charset="-120"/>
              </a:rPr>
              <a:t>Your full policy library and legally reviewed letter language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457200" y="914400"/>
            <a:ext cx="731520" cy="731520"/>
          </a:xfrm>
          <a:prstGeom prst="ellipse">
            <a:avLst/>
          </a:prstGeom>
          <a:solidFill>
            <a:srgbClr val="0E7C7B"/>
          </a:solidFill>
          <a:ln w="12700">
            <a:solidFill>
              <a:srgbClr val="0E7C7B"/>
            </a:solidFill>
            <a:prstDash val="solid"/>
          </a:ln>
        </p:spPr>
      </p:sp>
      <p:pic>
        <p:nvPicPr>
          <p:cNvPr id="3" name="Image 0" descr="preencoded.png">    </p:cNvPr>
          <p:cNvPicPr>
            <a:picLocks noChangeAspect="1"/>
          </p:cNvPicPr>
          <p:nvPr/>
        </p:nvPicPr>
        <p:blipFill>
          <a:blip r:embed="rId1"/>
          <a:stretch>
            <a:fillRect/>
          </a:stretch>
        </p:blipFill>
        <p:spPr>
          <a:xfrm>
            <a:off x="640080" y="1097280"/>
            <a:ext cx="365760" cy="365760"/>
          </a:xfrm>
          <a:prstGeom prst="rect">
            <a:avLst/>
          </a:prstGeom>
        </p:spPr>
      </p:pic>
      <p:sp>
        <p:nvSpPr>
          <p:cNvPr id="4" name="Text 1"/>
          <p:cNvSpPr txBox="1"/>
          <p:nvPr/>
        </p:nvSpPr>
        <p:spPr>
          <a:xfrm>
            <a:off x="457200" y="1828800"/>
            <a:ext cx="82296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Let's prove it on your data</a:t>
            </a:r>
            <a:endParaRPr lang="en-US" sz="3800" dirty="0"/>
          </a:p>
        </p:txBody>
      </p:sp>
      <p:sp>
        <p:nvSpPr>
          <p:cNvPr id="5" name="Text 2"/>
          <p:cNvSpPr txBox="1"/>
          <p:nvPr/>
        </p:nvSpPr>
        <p:spPr>
          <a:xfrm>
            <a:off x="457200" y="2651760"/>
            <a:ext cx="8229600" cy="1371600"/>
          </a:xfrm>
          <a:prstGeom prst="rect">
            <a:avLst/>
          </a:prstGeom>
          <a:noFill/>
          <a:ln/>
        </p:spPr>
        <p:txBody>
          <a:bodyPr wrap="square" rtlCol="0" anchor="t"/>
          <a:lstStyle/>
          <a:p>
            <a:pPr marL="342900" indent="-342900">
              <a:spcAft>
                <a:spcPts val="800"/>
              </a:spcAft>
              <a:buSzPct val="100000"/>
              <a:buChar char="•"/>
            </a:pPr>
            <a:r>
              <a:rPr lang="en-US" sz="1600" dirty="0">
                <a:solidFill>
                  <a:srgbClr val="CFE8E5"/>
                </a:solidFill>
                <a:latin typeface="Calibri" pitchFamily="34" charset="0"/>
                <a:ea typeface="Calibri" pitchFamily="34" charset="-122"/>
                <a:cs typeface="Calibri" pitchFamily="34" charset="-120"/>
              </a:rPr>
              <a:t>Share a sample of de-identified historical requests and your coverage policies</a:t>
            </a:r>
            <a:endParaRPr lang="en-US" sz="1600" dirty="0"/>
          </a:p>
          <a:p>
            <a:pPr marL="342900" indent="-342900">
              <a:spcAft>
                <a:spcPts val="800"/>
              </a:spcAft>
              <a:buSzPct val="100000"/>
              <a:buChar char="•"/>
            </a:pPr>
            <a:r>
              <a:rPr lang="en-US" sz="1600" dirty="0">
                <a:solidFill>
                  <a:srgbClr val="CFE8E5"/>
                </a:solidFill>
                <a:latin typeface="Calibri" pitchFamily="34" charset="0"/>
                <a:ea typeface="Calibri" pitchFamily="34" charset="-122"/>
                <a:cs typeface="Calibri" pitchFamily="34" charset="-120"/>
              </a:rPr>
              <a:t>We benchmark CitedAuth against your nurses' past decisions</a:t>
            </a:r>
            <a:endParaRPr lang="en-US" sz="1600" dirty="0"/>
          </a:p>
          <a:p>
            <a:pPr marL="342900" indent="-342900">
              <a:spcAft>
                <a:spcPts val="800"/>
              </a:spcAft>
              <a:buSzPct val="100000"/>
              <a:buChar char="•"/>
            </a:pPr>
            <a:r>
              <a:rPr lang="en-US" sz="1600" dirty="0">
                <a:solidFill>
                  <a:srgbClr val="CFE8E5"/>
                </a:solidFill>
                <a:latin typeface="Calibri" pitchFamily="34" charset="0"/>
                <a:ea typeface="Calibri" pitchFamily="34" charset="-122"/>
                <a:cs typeface="Calibri" pitchFamily="34" charset="-120"/>
              </a:rPr>
              <a:t>You decide on the pilot with real accuracy and time data in hand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CitedAuth Executive Briefing</dc:title>
  <dc:subject>PptxGenJS Presentation</dc:subject>
  <dc:creator>PptxGenJS</dc:creator>
  <cp:lastModifiedBy>PptxGenJS</cp:lastModifiedBy>
  <cp:revision>1</cp:revision>
  <dcterms:created xsi:type="dcterms:W3CDTF">2026-09-23T21:18:50Z</dcterms:created>
  <dcterms:modified xsi:type="dcterms:W3CDTF">2026-09-23T21:18:50Z</dcterms:modified>
</cp:coreProperties>
</file>